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5" r:id="rId4"/>
  </p:sldMasterIdLst>
  <p:notesMasterIdLst>
    <p:notesMasterId r:id="rId25"/>
  </p:notesMasterIdLst>
  <p:handoutMasterIdLst>
    <p:handoutMasterId r:id="rId26"/>
  </p:handoutMasterIdLst>
  <p:sldIdLst>
    <p:sldId id="266" r:id="rId5"/>
    <p:sldId id="279" r:id="rId6"/>
    <p:sldId id="278" r:id="rId7"/>
    <p:sldId id="257" r:id="rId8"/>
    <p:sldId id="264" r:id="rId9"/>
    <p:sldId id="273" r:id="rId10"/>
    <p:sldId id="276" r:id="rId11"/>
    <p:sldId id="258" r:id="rId12"/>
    <p:sldId id="274" r:id="rId13"/>
    <p:sldId id="280" r:id="rId14"/>
    <p:sldId id="277" r:id="rId15"/>
    <p:sldId id="272" r:id="rId16"/>
    <p:sldId id="259" r:id="rId17"/>
    <p:sldId id="268" r:id="rId18"/>
    <p:sldId id="269" r:id="rId19"/>
    <p:sldId id="284" r:id="rId20"/>
    <p:sldId id="281" r:id="rId21"/>
    <p:sldId id="262" r:id="rId22"/>
    <p:sldId id="275"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l" userId="f01fdc14-fcc2-4d26-8815-dbb3d5fc851b" providerId="ADAL" clId="{83D98944-5D68-4340-83C5-F078D1F66F35}"/>
    <pc:docChg chg="custSel modSld">
      <pc:chgData name="Vishal" userId="f01fdc14-fcc2-4d26-8815-dbb3d5fc851b" providerId="ADAL" clId="{83D98944-5D68-4340-83C5-F078D1F66F35}" dt="2024-03-29T11:30:13.100" v="215" actId="14100"/>
      <pc:docMkLst>
        <pc:docMk/>
      </pc:docMkLst>
      <pc:sldChg chg="addSp delSp modSp mod setBg setClrOvrMap">
        <pc:chgData name="Vishal" userId="f01fdc14-fcc2-4d26-8815-dbb3d5fc851b" providerId="ADAL" clId="{83D98944-5D68-4340-83C5-F078D1F66F35}" dt="2024-03-29T11:30:13.100" v="215" actId="14100"/>
        <pc:sldMkLst>
          <pc:docMk/>
          <pc:sldMk cId="1472564034" sldId="266"/>
        </pc:sldMkLst>
        <pc:spChg chg="mod">
          <ac:chgData name="Vishal" userId="f01fdc14-fcc2-4d26-8815-dbb3d5fc851b" providerId="ADAL" clId="{83D98944-5D68-4340-83C5-F078D1F66F35}" dt="2024-03-29T11:30:13.100" v="215" actId="14100"/>
          <ac:spMkLst>
            <pc:docMk/>
            <pc:sldMk cId="1472564034" sldId="266"/>
            <ac:spMk id="2" creationId="{2F78AE25-6EA7-4C1C-9E3C-99B417EDF8E4}"/>
          </ac:spMkLst>
        </pc:spChg>
        <pc:spChg chg="del mod">
          <ac:chgData name="Vishal" userId="f01fdc14-fcc2-4d26-8815-dbb3d5fc851b" providerId="ADAL" clId="{83D98944-5D68-4340-83C5-F078D1F66F35}" dt="2024-03-29T11:25:37.440" v="7" actId="26606"/>
          <ac:spMkLst>
            <pc:docMk/>
            <pc:sldMk cId="1472564034" sldId="266"/>
            <ac:spMk id="3" creationId="{EEDF134B-24F9-4179-889B-C21BC91F3A13}"/>
          </ac:spMkLst>
        </pc:spChg>
        <pc:spChg chg="add del">
          <ac:chgData name="Vishal" userId="f01fdc14-fcc2-4d26-8815-dbb3d5fc851b" providerId="ADAL" clId="{83D98944-5D68-4340-83C5-F078D1F66F35}" dt="2024-03-29T11:26:00.607" v="11" actId="26606"/>
          <ac:spMkLst>
            <pc:docMk/>
            <pc:sldMk cId="1472564034" sldId="266"/>
            <ac:spMk id="14" creationId="{4AC0CD9D-7610-4620-93B4-798CCD9AB581}"/>
          </ac:spMkLst>
        </pc:spChg>
        <pc:spChg chg="add del">
          <ac:chgData name="Vishal" userId="f01fdc14-fcc2-4d26-8815-dbb3d5fc851b" providerId="ADAL" clId="{83D98944-5D68-4340-83C5-F078D1F66F35}" dt="2024-03-29T11:26:00.607" v="11" actId="26606"/>
          <ac:spMkLst>
            <pc:docMk/>
            <pc:sldMk cId="1472564034" sldId="266"/>
            <ac:spMk id="20" creationId="{DE4D62F9-188E-4530-84C2-24BDEE4BEB82}"/>
          </ac:spMkLst>
        </pc:spChg>
        <pc:spChg chg="add del">
          <ac:chgData name="Vishal" userId="f01fdc14-fcc2-4d26-8815-dbb3d5fc851b" providerId="ADAL" clId="{83D98944-5D68-4340-83C5-F078D1F66F35}" dt="2024-03-29T11:26:00.607" v="11" actId="26606"/>
          <ac:spMkLst>
            <pc:docMk/>
            <pc:sldMk cId="1472564034" sldId="266"/>
            <ac:spMk id="22" creationId="{C6A81905-F480-46A4-BC10-215D24EA1AE6}"/>
          </ac:spMkLst>
        </pc:spChg>
        <pc:spChg chg="add del">
          <ac:chgData name="Vishal" userId="f01fdc14-fcc2-4d26-8815-dbb3d5fc851b" providerId="ADAL" clId="{83D98944-5D68-4340-83C5-F078D1F66F35}" dt="2024-03-29T11:26:00.607" v="11" actId="26606"/>
          <ac:spMkLst>
            <pc:docMk/>
            <pc:sldMk cId="1472564034" sldId="266"/>
            <ac:spMk id="24" creationId="{36FD4D9D-3784-41E8-8405-A42B72F51331}"/>
          </ac:spMkLst>
        </pc:spChg>
        <pc:spChg chg="add del">
          <ac:chgData name="Vishal" userId="f01fdc14-fcc2-4d26-8815-dbb3d5fc851b" providerId="ADAL" clId="{83D98944-5D68-4340-83C5-F078D1F66F35}" dt="2024-03-29T11:26:00.607" v="11" actId="26606"/>
          <ac:spMkLst>
            <pc:docMk/>
            <pc:sldMk cId="1472564034" sldId="266"/>
            <ac:spMk id="26" creationId="{09811DF6-66E4-43D5-B564-3151796531ED}"/>
          </ac:spMkLst>
        </pc:spChg>
        <pc:spChg chg="add del">
          <ac:chgData name="Vishal" userId="f01fdc14-fcc2-4d26-8815-dbb3d5fc851b" providerId="ADAL" clId="{83D98944-5D68-4340-83C5-F078D1F66F35}" dt="2024-03-29T11:26:00.607" v="11" actId="26606"/>
          <ac:spMkLst>
            <pc:docMk/>
            <pc:sldMk cId="1472564034" sldId="266"/>
            <ac:spMk id="28" creationId="{60817A52-B891-4228-A61E-0C0A57632DDA}"/>
          </ac:spMkLst>
        </pc:spChg>
        <pc:spChg chg="add mod">
          <ac:chgData name="Vishal" userId="f01fdc14-fcc2-4d26-8815-dbb3d5fc851b" providerId="ADAL" clId="{83D98944-5D68-4340-83C5-F078D1F66F35}" dt="2024-03-29T11:30:00.523" v="214" actId="14100"/>
          <ac:spMkLst>
            <pc:docMk/>
            <pc:sldMk cId="1472564034" sldId="266"/>
            <ac:spMk id="32" creationId="{704B7229-72F1-E187-EF95-9753CFA58A80}"/>
          </ac:spMkLst>
        </pc:spChg>
        <pc:spChg chg="add del">
          <ac:chgData name="Vishal" userId="f01fdc14-fcc2-4d26-8815-dbb3d5fc851b" providerId="ADAL" clId="{83D98944-5D68-4340-83C5-F078D1F66F35}" dt="2024-03-29T11:29:19.463" v="211" actId="26606"/>
          <ac:spMkLst>
            <pc:docMk/>
            <pc:sldMk cId="1472564034" sldId="266"/>
            <ac:spMk id="35" creationId="{C8A3C342-1D03-412F-8DD3-BF519E8E0AE9}"/>
          </ac:spMkLst>
        </pc:spChg>
        <pc:spChg chg="add del">
          <ac:chgData name="Vishal" userId="f01fdc14-fcc2-4d26-8815-dbb3d5fc851b" providerId="ADAL" clId="{83D98944-5D68-4340-83C5-F078D1F66F35}" dt="2024-03-29T11:29:19.463" v="211" actId="26606"/>
          <ac:spMkLst>
            <pc:docMk/>
            <pc:sldMk cId="1472564034" sldId="266"/>
            <ac:spMk id="37" creationId="{81CC9B02-E087-4350-AEBD-2C3CF001AF01}"/>
          </ac:spMkLst>
        </pc:spChg>
        <pc:spChg chg="add del">
          <ac:chgData name="Vishal" userId="f01fdc14-fcc2-4d26-8815-dbb3d5fc851b" providerId="ADAL" clId="{83D98944-5D68-4340-83C5-F078D1F66F35}" dt="2024-03-29T11:29:19.463" v="211" actId="26606"/>
          <ac:spMkLst>
            <pc:docMk/>
            <pc:sldMk cId="1472564034" sldId="266"/>
            <ac:spMk id="39" creationId="{AC3BF0FA-36FA-4CE9-840E-F7C3A8F168B5}"/>
          </ac:spMkLst>
        </pc:spChg>
        <pc:spChg chg="add del">
          <ac:chgData name="Vishal" userId="f01fdc14-fcc2-4d26-8815-dbb3d5fc851b" providerId="ADAL" clId="{83D98944-5D68-4340-83C5-F078D1F66F35}" dt="2024-03-29T11:29:19.463" v="211" actId="26606"/>
          <ac:spMkLst>
            <pc:docMk/>
            <pc:sldMk cId="1472564034" sldId="266"/>
            <ac:spMk id="41" creationId="{D6F18ACE-6E82-4ADC-8A2F-A1771B309B16}"/>
          </ac:spMkLst>
        </pc:spChg>
        <pc:picChg chg="mod">
          <ac:chgData name="Vishal" userId="f01fdc14-fcc2-4d26-8815-dbb3d5fc851b" providerId="ADAL" clId="{83D98944-5D68-4340-83C5-F078D1F66F35}" dt="2024-03-29T11:29:19.463" v="211" actId="26606"/>
          <ac:picMkLst>
            <pc:docMk/>
            <pc:sldMk cId="1472564034" sldId="266"/>
            <ac:picMk id="5" creationId="{A4474D95-9DE0-41A9-AA09-B425463C847E}"/>
          </ac:picMkLst>
        </pc:picChg>
        <pc:picChg chg="add del">
          <ac:chgData name="Vishal" userId="f01fdc14-fcc2-4d26-8815-dbb3d5fc851b" providerId="ADAL" clId="{83D98944-5D68-4340-83C5-F078D1F66F35}" dt="2024-03-29T11:26:00.607" v="11" actId="26606"/>
          <ac:picMkLst>
            <pc:docMk/>
            <pc:sldMk cId="1472564034" sldId="266"/>
            <ac:picMk id="10" creationId="{41B68C77-138E-4BF7-A276-BD0C78A4219F}"/>
          </ac:picMkLst>
        </pc:picChg>
        <pc:picChg chg="add del">
          <ac:chgData name="Vishal" userId="f01fdc14-fcc2-4d26-8815-dbb3d5fc851b" providerId="ADAL" clId="{83D98944-5D68-4340-83C5-F078D1F66F35}" dt="2024-03-29T11:26:00.607" v="11" actId="26606"/>
          <ac:picMkLst>
            <pc:docMk/>
            <pc:sldMk cId="1472564034" sldId="266"/>
            <ac:picMk id="12" creationId="{7C268552-D473-46ED-B1B8-422042C4DEF1}"/>
          </ac:picMkLst>
        </pc:picChg>
        <pc:picChg chg="add del">
          <ac:chgData name="Vishal" userId="f01fdc14-fcc2-4d26-8815-dbb3d5fc851b" providerId="ADAL" clId="{83D98944-5D68-4340-83C5-F078D1F66F35}" dt="2024-03-29T11:26:00.607" v="11" actId="26606"/>
          <ac:picMkLst>
            <pc:docMk/>
            <pc:sldMk cId="1472564034" sldId="266"/>
            <ac:picMk id="16" creationId="{B9238B3E-24AA-439A-B527-6C5DF6D72145}"/>
          </ac:picMkLst>
        </pc:picChg>
        <pc:picChg chg="add del">
          <ac:chgData name="Vishal" userId="f01fdc14-fcc2-4d26-8815-dbb3d5fc851b" providerId="ADAL" clId="{83D98944-5D68-4340-83C5-F078D1F66F35}" dt="2024-03-29T11:26:00.607" v="11" actId="26606"/>
          <ac:picMkLst>
            <pc:docMk/>
            <pc:sldMk cId="1472564034" sldId="266"/>
            <ac:picMk id="18" creationId="{69F01145-BEA3-4CBF-AA21-10077B948CA8}"/>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15A8F3-D252-4405-BE94-001619BF21C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64C8DE09-59D5-49B4-8CF7-51C5A14D0490}">
      <dgm:prSet/>
      <dgm:spPr/>
      <dgm:t>
        <a:bodyPr/>
        <a:lstStyle/>
        <a:p>
          <a:r>
            <a:rPr lang="en-US" b="0" i="0"/>
            <a:t>This project aims to utilise Recurrent Neural Networks (RNNs) for the analysis of a dataset consisting data of different patients of thyroid nodules.</a:t>
          </a:r>
          <a:endParaRPr lang="en-US"/>
        </a:p>
      </dgm:t>
    </dgm:pt>
    <dgm:pt modelId="{8E0A6561-5315-4ABC-90DC-6B9E5875208A}" type="parTrans" cxnId="{227BD433-0FE5-4142-923D-2FF2A7934155}">
      <dgm:prSet/>
      <dgm:spPr/>
      <dgm:t>
        <a:bodyPr/>
        <a:lstStyle/>
        <a:p>
          <a:endParaRPr lang="en-US"/>
        </a:p>
      </dgm:t>
    </dgm:pt>
    <dgm:pt modelId="{38546803-A087-4629-B03D-89E842C8D43F}" type="sibTrans" cxnId="{227BD433-0FE5-4142-923D-2FF2A7934155}">
      <dgm:prSet/>
      <dgm:spPr/>
      <dgm:t>
        <a:bodyPr/>
        <a:lstStyle/>
        <a:p>
          <a:endParaRPr lang="en-US"/>
        </a:p>
      </dgm:t>
    </dgm:pt>
    <dgm:pt modelId="{9DFCB975-9322-42F6-BDBF-F85A6A3B7812}">
      <dgm:prSet/>
      <dgm:spPr/>
      <dgm:t>
        <a:bodyPr/>
        <a:lstStyle/>
        <a:p>
          <a:r>
            <a:rPr lang="en-US" b="0" i="0"/>
            <a:t>The objective of training the RNN model on this dataset is to improve patient care and advance medical diagnostics by precisely identifying and categorising thyroid nodules.</a:t>
          </a:r>
          <a:br>
            <a:rPr lang="en-US" b="0" i="0"/>
          </a:br>
          <a:endParaRPr lang="en-US"/>
        </a:p>
      </dgm:t>
    </dgm:pt>
    <dgm:pt modelId="{69912E64-AAE5-49F4-84B5-7CCB6646F936}" type="parTrans" cxnId="{81E68CB8-153F-4A34-8ECC-8D3D4300F384}">
      <dgm:prSet/>
      <dgm:spPr/>
      <dgm:t>
        <a:bodyPr/>
        <a:lstStyle/>
        <a:p>
          <a:endParaRPr lang="en-US"/>
        </a:p>
      </dgm:t>
    </dgm:pt>
    <dgm:pt modelId="{83C0806C-E483-4DB7-BEC3-D002E23A7906}" type="sibTrans" cxnId="{81E68CB8-153F-4A34-8ECC-8D3D4300F384}">
      <dgm:prSet/>
      <dgm:spPr/>
      <dgm:t>
        <a:bodyPr/>
        <a:lstStyle/>
        <a:p>
          <a:endParaRPr lang="en-US"/>
        </a:p>
      </dgm:t>
    </dgm:pt>
    <dgm:pt modelId="{96118D5D-3ADA-4DF0-9B77-5821729EB837}" type="pres">
      <dgm:prSet presAssocID="{7715A8F3-D252-4405-BE94-001619BF21CF}" presName="hierChild1" presStyleCnt="0">
        <dgm:presLayoutVars>
          <dgm:chPref val="1"/>
          <dgm:dir/>
          <dgm:animOne val="branch"/>
          <dgm:animLvl val="lvl"/>
          <dgm:resizeHandles/>
        </dgm:presLayoutVars>
      </dgm:prSet>
      <dgm:spPr/>
    </dgm:pt>
    <dgm:pt modelId="{ECAE396F-95D2-41B4-B687-ABC85B407043}" type="pres">
      <dgm:prSet presAssocID="{64C8DE09-59D5-49B4-8CF7-51C5A14D0490}" presName="hierRoot1" presStyleCnt="0"/>
      <dgm:spPr/>
    </dgm:pt>
    <dgm:pt modelId="{D67D9EB6-7345-4EF1-A27B-8127B5D8A0AE}" type="pres">
      <dgm:prSet presAssocID="{64C8DE09-59D5-49B4-8CF7-51C5A14D0490}" presName="composite" presStyleCnt="0"/>
      <dgm:spPr/>
    </dgm:pt>
    <dgm:pt modelId="{A4747F76-370C-46A5-B731-D3ACC862E426}" type="pres">
      <dgm:prSet presAssocID="{64C8DE09-59D5-49B4-8CF7-51C5A14D0490}" presName="background" presStyleLbl="node0" presStyleIdx="0" presStyleCnt="2"/>
      <dgm:spPr/>
    </dgm:pt>
    <dgm:pt modelId="{030378EC-0F2F-4962-85B4-08710995BFE8}" type="pres">
      <dgm:prSet presAssocID="{64C8DE09-59D5-49B4-8CF7-51C5A14D0490}" presName="text" presStyleLbl="fgAcc0" presStyleIdx="0" presStyleCnt="2">
        <dgm:presLayoutVars>
          <dgm:chPref val="3"/>
        </dgm:presLayoutVars>
      </dgm:prSet>
      <dgm:spPr/>
    </dgm:pt>
    <dgm:pt modelId="{4C4C45CF-F96A-417C-AAF3-1A3F54C83C48}" type="pres">
      <dgm:prSet presAssocID="{64C8DE09-59D5-49B4-8CF7-51C5A14D0490}" presName="hierChild2" presStyleCnt="0"/>
      <dgm:spPr/>
    </dgm:pt>
    <dgm:pt modelId="{9C5FCDA1-EF2D-4BE9-B1F8-3386D6B3831C}" type="pres">
      <dgm:prSet presAssocID="{9DFCB975-9322-42F6-BDBF-F85A6A3B7812}" presName="hierRoot1" presStyleCnt="0"/>
      <dgm:spPr/>
    </dgm:pt>
    <dgm:pt modelId="{83A1372B-5A6C-4DF0-A084-9D03194B3F16}" type="pres">
      <dgm:prSet presAssocID="{9DFCB975-9322-42F6-BDBF-F85A6A3B7812}" presName="composite" presStyleCnt="0"/>
      <dgm:spPr/>
    </dgm:pt>
    <dgm:pt modelId="{95E7342B-4466-4C67-BC01-48F4D734DCAA}" type="pres">
      <dgm:prSet presAssocID="{9DFCB975-9322-42F6-BDBF-F85A6A3B7812}" presName="background" presStyleLbl="node0" presStyleIdx="1" presStyleCnt="2"/>
      <dgm:spPr/>
    </dgm:pt>
    <dgm:pt modelId="{64D3463C-891B-4255-BBC2-0B9A61C22BEA}" type="pres">
      <dgm:prSet presAssocID="{9DFCB975-9322-42F6-BDBF-F85A6A3B7812}" presName="text" presStyleLbl="fgAcc0" presStyleIdx="1" presStyleCnt="2">
        <dgm:presLayoutVars>
          <dgm:chPref val="3"/>
        </dgm:presLayoutVars>
      </dgm:prSet>
      <dgm:spPr/>
    </dgm:pt>
    <dgm:pt modelId="{FDE39F46-AD0A-4994-8109-0099CCE3D00B}" type="pres">
      <dgm:prSet presAssocID="{9DFCB975-9322-42F6-BDBF-F85A6A3B7812}" presName="hierChild2" presStyleCnt="0"/>
      <dgm:spPr/>
    </dgm:pt>
  </dgm:ptLst>
  <dgm:cxnLst>
    <dgm:cxn modelId="{227BD433-0FE5-4142-923D-2FF2A7934155}" srcId="{7715A8F3-D252-4405-BE94-001619BF21CF}" destId="{64C8DE09-59D5-49B4-8CF7-51C5A14D0490}" srcOrd="0" destOrd="0" parTransId="{8E0A6561-5315-4ABC-90DC-6B9E5875208A}" sibTransId="{38546803-A087-4629-B03D-89E842C8D43F}"/>
    <dgm:cxn modelId="{7FB7AC6A-0D7C-49C7-AD16-A45D3C0FC36B}" type="presOf" srcId="{64C8DE09-59D5-49B4-8CF7-51C5A14D0490}" destId="{030378EC-0F2F-4962-85B4-08710995BFE8}" srcOrd="0" destOrd="0" presId="urn:microsoft.com/office/officeart/2005/8/layout/hierarchy1"/>
    <dgm:cxn modelId="{6F00AFAC-4FDB-44C7-879F-A4B057CDFFE2}" type="presOf" srcId="{9DFCB975-9322-42F6-BDBF-F85A6A3B7812}" destId="{64D3463C-891B-4255-BBC2-0B9A61C22BEA}" srcOrd="0" destOrd="0" presId="urn:microsoft.com/office/officeart/2005/8/layout/hierarchy1"/>
    <dgm:cxn modelId="{81E68CB8-153F-4A34-8ECC-8D3D4300F384}" srcId="{7715A8F3-D252-4405-BE94-001619BF21CF}" destId="{9DFCB975-9322-42F6-BDBF-F85A6A3B7812}" srcOrd="1" destOrd="0" parTransId="{69912E64-AAE5-49F4-84B5-7CCB6646F936}" sibTransId="{83C0806C-E483-4DB7-BEC3-D002E23A7906}"/>
    <dgm:cxn modelId="{E04237DD-89E8-4831-9720-9DD42FBAAB9F}" type="presOf" srcId="{7715A8F3-D252-4405-BE94-001619BF21CF}" destId="{96118D5D-3ADA-4DF0-9B77-5821729EB837}" srcOrd="0" destOrd="0" presId="urn:microsoft.com/office/officeart/2005/8/layout/hierarchy1"/>
    <dgm:cxn modelId="{996C3524-66A7-42D2-A1CB-F1C2E4B615E0}" type="presParOf" srcId="{96118D5D-3ADA-4DF0-9B77-5821729EB837}" destId="{ECAE396F-95D2-41B4-B687-ABC85B407043}" srcOrd="0" destOrd="0" presId="urn:microsoft.com/office/officeart/2005/8/layout/hierarchy1"/>
    <dgm:cxn modelId="{C010F34F-7C9B-4DD8-A2F8-573A073626DB}" type="presParOf" srcId="{ECAE396F-95D2-41B4-B687-ABC85B407043}" destId="{D67D9EB6-7345-4EF1-A27B-8127B5D8A0AE}" srcOrd="0" destOrd="0" presId="urn:microsoft.com/office/officeart/2005/8/layout/hierarchy1"/>
    <dgm:cxn modelId="{20F4F3CF-BDDB-4261-8BBD-E352ED5148B1}" type="presParOf" srcId="{D67D9EB6-7345-4EF1-A27B-8127B5D8A0AE}" destId="{A4747F76-370C-46A5-B731-D3ACC862E426}" srcOrd="0" destOrd="0" presId="urn:microsoft.com/office/officeart/2005/8/layout/hierarchy1"/>
    <dgm:cxn modelId="{F3CF3BCC-62BC-471C-BA2E-BC2BFE711653}" type="presParOf" srcId="{D67D9EB6-7345-4EF1-A27B-8127B5D8A0AE}" destId="{030378EC-0F2F-4962-85B4-08710995BFE8}" srcOrd="1" destOrd="0" presId="urn:microsoft.com/office/officeart/2005/8/layout/hierarchy1"/>
    <dgm:cxn modelId="{B994F87F-0594-4409-9249-EA8D7EE9F7B8}" type="presParOf" srcId="{ECAE396F-95D2-41B4-B687-ABC85B407043}" destId="{4C4C45CF-F96A-417C-AAF3-1A3F54C83C48}" srcOrd="1" destOrd="0" presId="urn:microsoft.com/office/officeart/2005/8/layout/hierarchy1"/>
    <dgm:cxn modelId="{2B725644-DADE-48DA-9B5B-A2452749BAC4}" type="presParOf" srcId="{96118D5D-3ADA-4DF0-9B77-5821729EB837}" destId="{9C5FCDA1-EF2D-4BE9-B1F8-3386D6B3831C}" srcOrd="1" destOrd="0" presId="urn:microsoft.com/office/officeart/2005/8/layout/hierarchy1"/>
    <dgm:cxn modelId="{52AEEF43-82F2-4636-986C-CA54A1AE32C6}" type="presParOf" srcId="{9C5FCDA1-EF2D-4BE9-B1F8-3386D6B3831C}" destId="{83A1372B-5A6C-4DF0-A084-9D03194B3F16}" srcOrd="0" destOrd="0" presId="urn:microsoft.com/office/officeart/2005/8/layout/hierarchy1"/>
    <dgm:cxn modelId="{80580890-96F5-48FE-A6B4-5A56DE50E467}" type="presParOf" srcId="{83A1372B-5A6C-4DF0-A084-9D03194B3F16}" destId="{95E7342B-4466-4C67-BC01-48F4D734DCAA}" srcOrd="0" destOrd="0" presId="urn:microsoft.com/office/officeart/2005/8/layout/hierarchy1"/>
    <dgm:cxn modelId="{344D7D74-B55B-44C1-A006-1995A0F7CBD6}" type="presParOf" srcId="{83A1372B-5A6C-4DF0-A084-9D03194B3F16}" destId="{64D3463C-891B-4255-BBC2-0B9A61C22BEA}" srcOrd="1" destOrd="0" presId="urn:microsoft.com/office/officeart/2005/8/layout/hierarchy1"/>
    <dgm:cxn modelId="{55CB8272-7CEE-46D5-B16F-5D48D5407476}" type="presParOf" srcId="{9C5FCDA1-EF2D-4BE9-B1F8-3386D6B3831C}" destId="{FDE39F46-AD0A-4994-8109-0099CCE3D00B}"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929B65-5536-4051-A545-653DFDFA480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F9BC97D-FC28-41CD-9F72-383E14FDCA2B}">
      <dgm:prSet/>
      <dgm:spPr/>
      <dgm:t>
        <a:bodyPr/>
        <a:lstStyle/>
        <a:p>
          <a:pPr>
            <a:lnSpc>
              <a:spcPct val="100000"/>
            </a:lnSpc>
            <a:defRPr cap="all"/>
          </a:pPr>
          <a:r>
            <a:rPr lang="en-GB"/>
            <a:t>Methodology and Model Architecture</a:t>
          </a:r>
          <a:endParaRPr lang="en-US"/>
        </a:p>
      </dgm:t>
    </dgm:pt>
    <dgm:pt modelId="{70CCC4D2-8992-41F1-94EF-710741935AAB}" type="parTrans" cxnId="{362AA8E1-3963-4D78-A848-358D3D7573EE}">
      <dgm:prSet/>
      <dgm:spPr/>
      <dgm:t>
        <a:bodyPr/>
        <a:lstStyle/>
        <a:p>
          <a:endParaRPr lang="en-US"/>
        </a:p>
      </dgm:t>
    </dgm:pt>
    <dgm:pt modelId="{D3F7E1B5-96D8-435E-9F4B-C934B90CC3F6}" type="sibTrans" cxnId="{362AA8E1-3963-4D78-A848-358D3D7573EE}">
      <dgm:prSet/>
      <dgm:spPr/>
      <dgm:t>
        <a:bodyPr/>
        <a:lstStyle/>
        <a:p>
          <a:endParaRPr lang="en-US"/>
        </a:p>
      </dgm:t>
    </dgm:pt>
    <dgm:pt modelId="{C9005A9E-6FB7-48CA-B71D-D52755505FEB}">
      <dgm:prSet/>
      <dgm:spPr/>
      <dgm:t>
        <a:bodyPr/>
        <a:lstStyle/>
        <a:p>
          <a:pPr>
            <a:lnSpc>
              <a:spcPct val="100000"/>
            </a:lnSpc>
            <a:defRPr cap="all"/>
          </a:pPr>
          <a:r>
            <a:rPr lang="en-GB"/>
            <a:t>Dataset Variability</a:t>
          </a:r>
          <a:endParaRPr lang="en-US"/>
        </a:p>
      </dgm:t>
    </dgm:pt>
    <dgm:pt modelId="{D63CB09A-2F2B-4988-86C2-2EA415EE45EE}" type="parTrans" cxnId="{EE3CC280-D0FC-467C-97A3-41F73A3AE777}">
      <dgm:prSet/>
      <dgm:spPr/>
      <dgm:t>
        <a:bodyPr/>
        <a:lstStyle/>
        <a:p>
          <a:endParaRPr lang="en-US"/>
        </a:p>
      </dgm:t>
    </dgm:pt>
    <dgm:pt modelId="{9B9696FA-9D55-4AC5-9BA2-CB62877600E2}" type="sibTrans" cxnId="{EE3CC280-D0FC-467C-97A3-41F73A3AE777}">
      <dgm:prSet/>
      <dgm:spPr/>
      <dgm:t>
        <a:bodyPr/>
        <a:lstStyle/>
        <a:p>
          <a:endParaRPr lang="en-US"/>
        </a:p>
      </dgm:t>
    </dgm:pt>
    <dgm:pt modelId="{0CFBFF5B-4A30-41FE-8ECA-1383CCFDB857}">
      <dgm:prSet/>
      <dgm:spPr/>
      <dgm:t>
        <a:bodyPr/>
        <a:lstStyle/>
        <a:p>
          <a:pPr>
            <a:lnSpc>
              <a:spcPct val="100000"/>
            </a:lnSpc>
            <a:defRPr cap="all"/>
          </a:pPr>
          <a:r>
            <a:rPr lang="en-GB"/>
            <a:t>Evaluation Metrics</a:t>
          </a:r>
          <a:endParaRPr lang="en-US"/>
        </a:p>
      </dgm:t>
    </dgm:pt>
    <dgm:pt modelId="{EA8878FE-0070-4D8C-987F-54B6E819D1A8}" type="parTrans" cxnId="{03ECCCAB-EB47-4C70-B8D1-5E16F8D05947}">
      <dgm:prSet/>
      <dgm:spPr/>
      <dgm:t>
        <a:bodyPr/>
        <a:lstStyle/>
        <a:p>
          <a:endParaRPr lang="en-US"/>
        </a:p>
      </dgm:t>
    </dgm:pt>
    <dgm:pt modelId="{E7019D34-8B3C-4B7F-8775-70F935F40FDD}" type="sibTrans" cxnId="{03ECCCAB-EB47-4C70-B8D1-5E16F8D05947}">
      <dgm:prSet/>
      <dgm:spPr/>
      <dgm:t>
        <a:bodyPr/>
        <a:lstStyle/>
        <a:p>
          <a:endParaRPr lang="en-US"/>
        </a:p>
      </dgm:t>
    </dgm:pt>
    <dgm:pt modelId="{0D8FF35D-B991-46A3-A3B6-4550E52F461B}">
      <dgm:prSet/>
      <dgm:spPr/>
      <dgm:t>
        <a:bodyPr/>
        <a:lstStyle/>
        <a:p>
          <a:pPr>
            <a:lnSpc>
              <a:spcPct val="100000"/>
            </a:lnSpc>
            <a:defRPr cap="all"/>
          </a:pPr>
          <a:r>
            <a:rPr lang="en-GB"/>
            <a:t>Clinical Validation and Real-world Application</a:t>
          </a:r>
          <a:endParaRPr lang="en-US"/>
        </a:p>
      </dgm:t>
    </dgm:pt>
    <dgm:pt modelId="{681D1D07-8D11-463C-9A73-3B7789D3E04D}" type="parTrans" cxnId="{CC6E7FB2-F4F7-4F1A-9091-A06C81761175}">
      <dgm:prSet/>
      <dgm:spPr/>
      <dgm:t>
        <a:bodyPr/>
        <a:lstStyle/>
        <a:p>
          <a:endParaRPr lang="en-US"/>
        </a:p>
      </dgm:t>
    </dgm:pt>
    <dgm:pt modelId="{EC840634-ECB1-42E6-BD91-134ACFAC4ECF}" type="sibTrans" cxnId="{CC6E7FB2-F4F7-4F1A-9091-A06C81761175}">
      <dgm:prSet/>
      <dgm:spPr/>
      <dgm:t>
        <a:bodyPr/>
        <a:lstStyle/>
        <a:p>
          <a:endParaRPr lang="en-US"/>
        </a:p>
      </dgm:t>
    </dgm:pt>
    <dgm:pt modelId="{15D5D02E-9CE2-4035-96FF-01FDE87E021F}">
      <dgm:prSet/>
      <dgm:spPr/>
      <dgm:t>
        <a:bodyPr/>
        <a:lstStyle/>
        <a:p>
          <a:pPr>
            <a:lnSpc>
              <a:spcPct val="100000"/>
            </a:lnSpc>
            <a:defRPr cap="all"/>
          </a:pPr>
          <a:r>
            <a:rPr lang="en-GB"/>
            <a:t>Ethical and Regulatory Considerations</a:t>
          </a:r>
          <a:endParaRPr lang="en-US"/>
        </a:p>
      </dgm:t>
    </dgm:pt>
    <dgm:pt modelId="{3C4E35DD-BFD4-424C-B7C4-E933E30CE2E0}" type="parTrans" cxnId="{EB09C0D3-952A-4979-8F9E-F2C46DE9623A}">
      <dgm:prSet/>
      <dgm:spPr/>
      <dgm:t>
        <a:bodyPr/>
        <a:lstStyle/>
        <a:p>
          <a:endParaRPr lang="en-US"/>
        </a:p>
      </dgm:t>
    </dgm:pt>
    <dgm:pt modelId="{2EC8CACF-44DC-4884-8AD7-4DDED8A217E7}" type="sibTrans" cxnId="{EB09C0D3-952A-4979-8F9E-F2C46DE9623A}">
      <dgm:prSet/>
      <dgm:spPr/>
      <dgm:t>
        <a:bodyPr/>
        <a:lstStyle/>
        <a:p>
          <a:endParaRPr lang="en-US"/>
        </a:p>
      </dgm:t>
    </dgm:pt>
    <dgm:pt modelId="{53446F62-328D-4571-A489-16B31F18AE11}" type="pres">
      <dgm:prSet presAssocID="{06929B65-5536-4051-A545-653DFDFA4807}" presName="root" presStyleCnt="0">
        <dgm:presLayoutVars>
          <dgm:dir/>
          <dgm:resizeHandles val="exact"/>
        </dgm:presLayoutVars>
      </dgm:prSet>
      <dgm:spPr/>
    </dgm:pt>
    <dgm:pt modelId="{C31FECE8-95BE-46D8-88DF-DB5AC29EF36D}" type="pres">
      <dgm:prSet presAssocID="{CF9BC97D-FC28-41CD-9F72-383E14FDCA2B}" presName="compNode" presStyleCnt="0"/>
      <dgm:spPr/>
    </dgm:pt>
    <dgm:pt modelId="{70238B4A-7187-44B3-8007-31F59E5289F2}" type="pres">
      <dgm:prSet presAssocID="{CF9BC97D-FC28-41CD-9F72-383E14FDCA2B}" presName="iconBgRect" presStyleLbl="bgShp" presStyleIdx="0" presStyleCnt="5"/>
      <dgm:spPr/>
    </dgm:pt>
    <dgm:pt modelId="{D7EAF881-9E70-4A71-8450-7B6F3EC4BAD0}" type="pres">
      <dgm:prSet presAssocID="{CF9BC97D-FC28-41CD-9F72-383E14FDCA2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644E86A1-ACDA-4F3F-9E1B-BF77B2ADD434}" type="pres">
      <dgm:prSet presAssocID="{CF9BC97D-FC28-41CD-9F72-383E14FDCA2B}" presName="spaceRect" presStyleCnt="0"/>
      <dgm:spPr/>
    </dgm:pt>
    <dgm:pt modelId="{2D763773-DD91-4E91-9052-AB386D7F5F1C}" type="pres">
      <dgm:prSet presAssocID="{CF9BC97D-FC28-41CD-9F72-383E14FDCA2B}" presName="textRect" presStyleLbl="revTx" presStyleIdx="0" presStyleCnt="5">
        <dgm:presLayoutVars>
          <dgm:chMax val="1"/>
          <dgm:chPref val="1"/>
        </dgm:presLayoutVars>
      </dgm:prSet>
      <dgm:spPr/>
    </dgm:pt>
    <dgm:pt modelId="{20BB0996-2E56-4352-AAF9-E418717A9CD6}" type="pres">
      <dgm:prSet presAssocID="{D3F7E1B5-96D8-435E-9F4B-C934B90CC3F6}" presName="sibTrans" presStyleCnt="0"/>
      <dgm:spPr/>
    </dgm:pt>
    <dgm:pt modelId="{9F39C27A-D0C8-4561-A2A9-4D25DB3E3B1C}" type="pres">
      <dgm:prSet presAssocID="{C9005A9E-6FB7-48CA-B71D-D52755505FEB}" presName="compNode" presStyleCnt="0"/>
      <dgm:spPr/>
    </dgm:pt>
    <dgm:pt modelId="{B6CDD3A4-0EA7-45EA-A368-0F8473399D8E}" type="pres">
      <dgm:prSet presAssocID="{C9005A9E-6FB7-48CA-B71D-D52755505FEB}" presName="iconBgRect" presStyleLbl="bgShp" presStyleIdx="1" presStyleCnt="5"/>
      <dgm:spPr/>
    </dgm:pt>
    <dgm:pt modelId="{EC2541BD-C1A6-43A4-B049-7E1E46A8ADB1}" type="pres">
      <dgm:prSet presAssocID="{C9005A9E-6FB7-48CA-B71D-D52755505FE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83B47BB7-77E7-4428-B884-B8EDB8DDA192}" type="pres">
      <dgm:prSet presAssocID="{C9005A9E-6FB7-48CA-B71D-D52755505FEB}" presName="spaceRect" presStyleCnt="0"/>
      <dgm:spPr/>
    </dgm:pt>
    <dgm:pt modelId="{30F63B2A-AB48-4ABF-A7C6-D7EAF2277872}" type="pres">
      <dgm:prSet presAssocID="{C9005A9E-6FB7-48CA-B71D-D52755505FEB}" presName="textRect" presStyleLbl="revTx" presStyleIdx="1" presStyleCnt="5">
        <dgm:presLayoutVars>
          <dgm:chMax val="1"/>
          <dgm:chPref val="1"/>
        </dgm:presLayoutVars>
      </dgm:prSet>
      <dgm:spPr/>
    </dgm:pt>
    <dgm:pt modelId="{4FB5D947-55C9-4FDE-B135-90A3E0FD8554}" type="pres">
      <dgm:prSet presAssocID="{9B9696FA-9D55-4AC5-9BA2-CB62877600E2}" presName="sibTrans" presStyleCnt="0"/>
      <dgm:spPr/>
    </dgm:pt>
    <dgm:pt modelId="{FEEBB7C4-175F-4B19-9E3C-76CFF9EC708E}" type="pres">
      <dgm:prSet presAssocID="{0CFBFF5B-4A30-41FE-8ECA-1383CCFDB857}" presName="compNode" presStyleCnt="0"/>
      <dgm:spPr/>
    </dgm:pt>
    <dgm:pt modelId="{0015EB5A-5D2E-48A2-A1D7-090DBE88C058}" type="pres">
      <dgm:prSet presAssocID="{0CFBFF5B-4A30-41FE-8ECA-1383CCFDB857}" presName="iconBgRect" presStyleLbl="bgShp" presStyleIdx="2" presStyleCnt="5"/>
      <dgm:spPr/>
    </dgm:pt>
    <dgm:pt modelId="{CED4AB2F-D3AC-4AB1-B234-E1120D651FB6}" type="pres">
      <dgm:prSet presAssocID="{0CFBFF5B-4A30-41FE-8ECA-1383CCFDB85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A816538F-446D-4732-A1FC-8FEAA804BF2B}" type="pres">
      <dgm:prSet presAssocID="{0CFBFF5B-4A30-41FE-8ECA-1383CCFDB857}" presName="spaceRect" presStyleCnt="0"/>
      <dgm:spPr/>
    </dgm:pt>
    <dgm:pt modelId="{DDFE359D-B6C1-4563-AF4A-72570C43EB8E}" type="pres">
      <dgm:prSet presAssocID="{0CFBFF5B-4A30-41FE-8ECA-1383CCFDB857}" presName="textRect" presStyleLbl="revTx" presStyleIdx="2" presStyleCnt="5">
        <dgm:presLayoutVars>
          <dgm:chMax val="1"/>
          <dgm:chPref val="1"/>
        </dgm:presLayoutVars>
      </dgm:prSet>
      <dgm:spPr/>
    </dgm:pt>
    <dgm:pt modelId="{E64FD4C6-88B7-470D-8151-C9DBCFD1977F}" type="pres">
      <dgm:prSet presAssocID="{E7019D34-8B3C-4B7F-8775-70F935F40FDD}" presName="sibTrans" presStyleCnt="0"/>
      <dgm:spPr/>
    </dgm:pt>
    <dgm:pt modelId="{FE2BF941-0B07-4991-9B72-48AA5D4F422B}" type="pres">
      <dgm:prSet presAssocID="{0D8FF35D-B991-46A3-A3B6-4550E52F461B}" presName="compNode" presStyleCnt="0"/>
      <dgm:spPr/>
    </dgm:pt>
    <dgm:pt modelId="{C07C05CE-6C74-4890-B33A-7BAB537C8EC3}" type="pres">
      <dgm:prSet presAssocID="{0D8FF35D-B991-46A3-A3B6-4550E52F461B}" presName="iconBgRect" presStyleLbl="bgShp" presStyleIdx="3" presStyleCnt="5"/>
      <dgm:spPr/>
    </dgm:pt>
    <dgm:pt modelId="{22411BF1-3208-4CC0-90E9-2C9DD9D37BAF}" type="pres">
      <dgm:prSet presAssocID="{0D8FF35D-B991-46A3-A3B6-4550E52F461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ethoscope"/>
        </a:ext>
      </dgm:extLst>
    </dgm:pt>
    <dgm:pt modelId="{41588FB3-6BF5-4B57-A46E-A0789C645F45}" type="pres">
      <dgm:prSet presAssocID="{0D8FF35D-B991-46A3-A3B6-4550E52F461B}" presName="spaceRect" presStyleCnt="0"/>
      <dgm:spPr/>
    </dgm:pt>
    <dgm:pt modelId="{3D19C1C2-D7E3-4FE1-A230-9D32B3113FAD}" type="pres">
      <dgm:prSet presAssocID="{0D8FF35D-B991-46A3-A3B6-4550E52F461B}" presName="textRect" presStyleLbl="revTx" presStyleIdx="3" presStyleCnt="5">
        <dgm:presLayoutVars>
          <dgm:chMax val="1"/>
          <dgm:chPref val="1"/>
        </dgm:presLayoutVars>
      </dgm:prSet>
      <dgm:spPr/>
    </dgm:pt>
    <dgm:pt modelId="{E6D87551-D9AE-472E-948F-116081CCB1DA}" type="pres">
      <dgm:prSet presAssocID="{EC840634-ECB1-42E6-BD91-134ACFAC4ECF}" presName="sibTrans" presStyleCnt="0"/>
      <dgm:spPr/>
    </dgm:pt>
    <dgm:pt modelId="{504FACCD-06CE-4880-8930-7732C94711BA}" type="pres">
      <dgm:prSet presAssocID="{15D5D02E-9CE2-4035-96FF-01FDE87E021F}" presName="compNode" presStyleCnt="0"/>
      <dgm:spPr/>
    </dgm:pt>
    <dgm:pt modelId="{AE50E62B-4213-4955-B31A-BF336822FD66}" type="pres">
      <dgm:prSet presAssocID="{15D5D02E-9CE2-4035-96FF-01FDE87E021F}" presName="iconBgRect" presStyleLbl="bgShp" presStyleIdx="4" presStyleCnt="5"/>
      <dgm:spPr/>
    </dgm:pt>
    <dgm:pt modelId="{70515456-C0C8-4AF0-A3E2-9DBF7188BB0E}" type="pres">
      <dgm:prSet presAssocID="{15D5D02E-9CE2-4035-96FF-01FDE87E021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ales of Justice"/>
        </a:ext>
      </dgm:extLst>
    </dgm:pt>
    <dgm:pt modelId="{2C10B047-3BCC-4E7F-AC40-A6189BE208E7}" type="pres">
      <dgm:prSet presAssocID="{15D5D02E-9CE2-4035-96FF-01FDE87E021F}" presName="spaceRect" presStyleCnt="0"/>
      <dgm:spPr/>
    </dgm:pt>
    <dgm:pt modelId="{3ACE634E-5858-4FF1-A715-031377C55EF9}" type="pres">
      <dgm:prSet presAssocID="{15D5D02E-9CE2-4035-96FF-01FDE87E021F}" presName="textRect" presStyleLbl="revTx" presStyleIdx="4" presStyleCnt="5">
        <dgm:presLayoutVars>
          <dgm:chMax val="1"/>
          <dgm:chPref val="1"/>
        </dgm:presLayoutVars>
      </dgm:prSet>
      <dgm:spPr/>
    </dgm:pt>
  </dgm:ptLst>
  <dgm:cxnLst>
    <dgm:cxn modelId="{2468352F-F673-47B2-B5DD-43A63813D617}" type="presOf" srcId="{CF9BC97D-FC28-41CD-9F72-383E14FDCA2B}" destId="{2D763773-DD91-4E91-9052-AB386D7F5F1C}" srcOrd="0" destOrd="0" presId="urn:microsoft.com/office/officeart/2018/5/layout/IconCircleLabelList"/>
    <dgm:cxn modelId="{1E80E266-0CFE-4810-8024-45E80E64AFF8}" type="presOf" srcId="{06929B65-5536-4051-A545-653DFDFA4807}" destId="{53446F62-328D-4571-A489-16B31F18AE11}" srcOrd="0" destOrd="0" presId="urn:microsoft.com/office/officeart/2018/5/layout/IconCircleLabelList"/>
    <dgm:cxn modelId="{17083E47-166D-4D39-A8D2-64C1029E717C}" type="presOf" srcId="{C9005A9E-6FB7-48CA-B71D-D52755505FEB}" destId="{30F63B2A-AB48-4ABF-A7C6-D7EAF2277872}" srcOrd="0" destOrd="0" presId="urn:microsoft.com/office/officeart/2018/5/layout/IconCircleLabelList"/>
    <dgm:cxn modelId="{EE3CC280-D0FC-467C-97A3-41F73A3AE777}" srcId="{06929B65-5536-4051-A545-653DFDFA4807}" destId="{C9005A9E-6FB7-48CA-B71D-D52755505FEB}" srcOrd="1" destOrd="0" parTransId="{D63CB09A-2F2B-4988-86C2-2EA415EE45EE}" sibTransId="{9B9696FA-9D55-4AC5-9BA2-CB62877600E2}"/>
    <dgm:cxn modelId="{AA9C6E86-0AC3-4E61-A886-EC7E5DC6935A}" type="presOf" srcId="{15D5D02E-9CE2-4035-96FF-01FDE87E021F}" destId="{3ACE634E-5858-4FF1-A715-031377C55EF9}" srcOrd="0" destOrd="0" presId="urn:microsoft.com/office/officeart/2018/5/layout/IconCircleLabelList"/>
    <dgm:cxn modelId="{0F384188-3BC2-495F-960E-C6799609D86F}" type="presOf" srcId="{0CFBFF5B-4A30-41FE-8ECA-1383CCFDB857}" destId="{DDFE359D-B6C1-4563-AF4A-72570C43EB8E}" srcOrd="0" destOrd="0" presId="urn:microsoft.com/office/officeart/2018/5/layout/IconCircleLabelList"/>
    <dgm:cxn modelId="{03ECCCAB-EB47-4C70-B8D1-5E16F8D05947}" srcId="{06929B65-5536-4051-A545-653DFDFA4807}" destId="{0CFBFF5B-4A30-41FE-8ECA-1383CCFDB857}" srcOrd="2" destOrd="0" parTransId="{EA8878FE-0070-4D8C-987F-54B6E819D1A8}" sibTransId="{E7019D34-8B3C-4B7F-8775-70F935F40FDD}"/>
    <dgm:cxn modelId="{CC6E7FB2-F4F7-4F1A-9091-A06C81761175}" srcId="{06929B65-5536-4051-A545-653DFDFA4807}" destId="{0D8FF35D-B991-46A3-A3B6-4550E52F461B}" srcOrd="3" destOrd="0" parTransId="{681D1D07-8D11-463C-9A73-3B7789D3E04D}" sibTransId="{EC840634-ECB1-42E6-BD91-134ACFAC4ECF}"/>
    <dgm:cxn modelId="{EB09C0D3-952A-4979-8F9E-F2C46DE9623A}" srcId="{06929B65-5536-4051-A545-653DFDFA4807}" destId="{15D5D02E-9CE2-4035-96FF-01FDE87E021F}" srcOrd="4" destOrd="0" parTransId="{3C4E35DD-BFD4-424C-B7C4-E933E30CE2E0}" sibTransId="{2EC8CACF-44DC-4884-8AD7-4DDED8A217E7}"/>
    <dgm:cxn modelId="{54472DDE-F779-490F-B9AE-3A1C2533DEFD}" type="presOf" srcId="{0D8FF35D-B991-46A3-A3B6-4550E52F461B}" destId="{3D19C1C2-D7E3-4FE1-A230-9D32B3113FAD}" srcOrd="0" destOrd="0" presId="urn:microsoft.com/office/officeart/2018/5/layout/IconCircleLabelList"/>
    <dgm:cxn modelId="{362AA8E1-3963-4D78-A848-358D3D7573EE}" srcId="{06929B65-5536-4051-A545-653DFDFA4807}" destId="{CF9BC97D-FC28-41CD-9F72-383E14FDCA2B}" srcOrd="0" destOrd="0" parTransId="{70CCC4D2-8992-41F1-94EF-710741935AAB}" sibTransId="{D3F7E1B5-96D8-435E-9F4B-C934B90CC3F6}"/>
    <dgm:cxn modelId="{B2BB10B0-AFA2-4F08-8EBE-23FECCBEFB33}" type="presParOf" srcId="{53446F62-328D-4571-A489-16B31F18AE11}" destId="{C31FECE8-95BE-46D8-88DF-DB5AC29EF36D}" srcOrd="0" destOrd="0" presId="urn:microsoft.com/office/officeart/2018/5/layout/IconCircleLabelList"/>
    <dgm:cxn modelId="{58725828-DF3D-46B9-9CE2-6D0841772F42}" type="presParOf" srcId="{C31FECE8-95BE-46D8-88DF-DB5AC29EF36D}" destId="{70238B4A-7187-44B3-8007-31F59E5289F2}" srcOrd="0" destOrd="0" presId="urn:microsoft.com/office/officeart/2018/5/layout/IconCircleLabelList"/>
    <dgm:cxn modelId="{8F13A1F0-0974-4D87-A684-BC6551531C59}" type="presParOf" srcId="{C31FECE8-95BE-46D8-88DF-DB5AC29EF36D}" destId="{D7EAF881-9E70-4A71-8450-7B6F3EC4BAD0}" srcOrd="1" destOrd="0" presId="urn:microsoft.com/office/officeart/2018/5/layout/IconCircleLabelList"/>
    <dgm:cxn modelId="{F6F7F48D-4C88-4B69-A047-AADE06FAF85B}" type="presParOf" srcId="{C31FECE8-95BE-46D8-88DF-DB5AC29EF36D}" destId="{644E86A1-ACDA-4F3F-9E1B-BF77B2ADD434}" srcOrd="2" destOrd="0" presId="urn:microsoft.com/office/officeart/2018/5/layout/IconCircleLabelList"/>
    <dgm:cxn modelId="{CE7638CA-A7CA-4A49-8D85-17CB2174F109}" type="presParOf" srcId="{C31FECE8-95BE-46D8-88DF-DB5AC29EF36D}" destId="{2D763773-DD91-4E91-9052-AB386D7F5F1C}" srcOrd="3" destOrd="0" presId="urn:microsoft.com/office/officeart/2018/5/layout/IconCircleLabelList"/>
    <dgm:cxn modelId="{7973E9D8-A630-4FB0-ACDA-FD65AAE682B5}" type="presParOf" srcId="{53446F62-328D-4571-A489-16B31F18AE11}" destId="{20BB0996-2E56-4352-AAF9-E418717A9CD6}" srcOrd="1" destOrd="0" presId="urn:microsoft.com/office/officeart/2018/5/layout/IconCircleLabelList"/>
    <dgm:cxn modelId="{65488C06-4536-4759-A44F-D43D2442A0D1}" type="presParOf" srcId="{53446F62-328D-4571-A489-16B31F18AE11}" destId="{9F39C27A-D0C8-4561-A2A9-4D25DB3E3B1C}" srcOrd="2" destOrd="0" presId="urn:microsoft.com/office/officeart/2018/5/layout/IconCircleLabelList"/>
    <dgm:cxn modelId="{A678778D-F42B-49D3-9896-D0158DD7DD05}" type="presParOf" srcId="{9F39C27A-D0C8-4561-A2A9-4D25DB3E3B1C}" destId="{B6CDD3A4-0EA7-45EA-A368-0F8473399D8E}" srcOrd="0" destOrd="0" presId="urn:microsoft.com/office/officeart/2018/5/layout/IconCircleLabelList"/>
    <dgm:cxn modelId="{8B037F1B-6354-43B5-A9AB-6C39C66E99CC}" type="presParOf" srcId="{9F39C27A-D0C8-4561-A2A9-4D25DB3E3B1C}" destId="{EC2541BD-C1A6-43A4-B049-7E1E46A8ADB1}" srcOrd="1" destOrd="0" presId="urn:microsoft.com/office/officeart/2018/5/layout/IconCircleLabelList"/>
    <dgm:cxn modelId="{118D278E-0F02-45F5-BA65-E2C12C6E670D}" type="presParOf" srcId="{9F39C27A-D0C8-4561-A2A9-4D25DB3E3B1C}" destId="{83B47BB7-77E7-4428-B884-B8EDB8DDA192}" srcOrd="2" destOrd="0" presId="urn:microsoft.com/office/officeart/2018/5/layout/IconCircleLabelList"/>
    <dgm:cxn modelId="{E153C608-17CE-430C-A024-9472DABADE73}" type="presParOf" srcId="{9F39C27A-D0C8-4561-A2A9-4D25DB3E3B1C}" destId="{30F63B2A-AB48-4ABF-A7C6-D7EAF2277872}" srcOrd="3" destOrd="0" presId="urn:microsoft.com/office/officeart/2018/5/layout/IconCircleLabelList"/>
    <dgm:cxn modelId="{1D57154F-A3C8-4BBD-AD6B-56398E95AC86}" type="presParOf" srcId="{53446F62-328D-4571-A489-16B31F18AE11}" destId="{4FB5D947-55C9-4FDE-B135-90A3E0FD8554}" srcOrd="3" destOrd="0" presId="urn:microsoft.com/office/officeart/2018/5/layout/IconCircleLabelList"/>
    <dgm:cxn modelId="{B01196DD-2660-4100-8FF7-9B8053FC79F2}" type="presParOf" srcId="{53446F62-328D-4571-A489-16B31F18AE11}" destId="{FEEBB7C4-175F-4B19-9E3C-76CFF9EC708E}" srcOrd="4" destOrd="0" presId="urn:microsoft.com/office/officeart/2018/5/layout/IconCircleLabelList"/>
    <dgm:cxn modelId="{D8D0B78D-D927-4FDE-85F0-CBA103494349}" type="presParOf" srcId="{FEEBB7C4-175F-4B19-9E3C-76CFF9EC708E}" destId="{0015EB5A-5D2E-48A2-A1D7-090DBE88C058}" srcOrd="0" destOrd="0" presId="urn:microsoft.com/office/officeart/2018/5/layout/IconCircleLabelList"/>
    <dgm:cxn modelId="{DD94E5E8-AA43-4893-A595-850B654A191D}" type="presParOf" srcId="{FEEBB7C4-175F-4B19-9E3C-76CFF9EC708E}" destId="{CED4AB2F-D3AC-4AB1-B234-E1120D651FB6}" srcOrd="1" destOrd="0" presId="urn:microsoft.com/office/officeart/2018/5/layout/IconCircleLabelList"/>
    <dgm:cxn modelId="{3EFEA2D0-FB28-4573-AF3C-BC1C11DA7C9C}" type="presParOf" srcId="{FEEBB7C4-175F-4B19-9E3C-76CFF9EC708E}" destId="{A816538F-446D-4732-A1FC-8FEAA804BF2B}" srcOrd="2" destOrd="0" presId="urn:microsoft.com/office/officeart/2018/5/layout/IconCircleLabelList"/>
    <dgm:cxn modelId="{FD886ACE-6F71-4187-A844-482B69BEEF4D}" type="presParOf" srcId="{FEEBB7C4-175F-4B19-9E3C-76CFF9EC708E}" destId="{DDFE359D-B6C1-4563-AF4A-72570C43EB8E}" srcOrd="3" destOrd="0" presId="urn:microsoft.com/office/officeart/2018/5/layout/IconCircleLabelList"/>
    <dgm:cxn modelId="{EEDBB4FF-6DDB-45F9-A4A2-CD37F191D7BB}" type="presParOf" srcId="{53446F62-328D-4571-A489-16B31F18AE11}" destId="{E64FD4C6-88B7-470D-8151-C9DBCFD1977F}" srcOrd="5" destOrd="0" presId="urn:microsoft.com/office/officeart/2018/5/layout/IconCircleLabelList"/>
    <dgm:cxn modelId="{291C3A0D-F177-427F-8D5F-F13888EBC46D}" type="presParOf" srcId="{53446F62-328D-4571-A489-16B31F18AE11}" destId="{FE2BF941-0B07-4991-9B72-48AA5D4F422B}" srcOrd="6" destOrd="0" presId="urn:microsoft.com/office/officeart/2018/5/layout/IconCircleLabelList"/>
    <dgm:cxn modelId="{823FFFF9-3A56-4688-903A-2EFE67415511}" type="presParOf" srcId="{FE2BF941-0B07-4991-9B72-48AA5D4F422B}" destId="{C07C05CE-6C74-4890-B33A-7BAB537C8EC3}" srcOrd="0" destOrd="0" presId="urn:microsoft.com/office/officeart/2018/5/layout/IconCircleLabelList"/>
    <dgm:cxn modelId="{9DE7A38A-D628-4967-BE5F-9FEF254E190E}" type="presParOf" srcId="{FE2BF941-0B07-4991-9B72-48AA5D4F422B}" destId="{22411BF1-3208-4CC0-90E9-2C9DD9D37BAF}" srcOrd="1" destOrd="0" presId="urn:microsoft.com/office/officeart/2018/5/layout/IconCircleLabelList"/>
    <dgm:cxn modelId="{74878CF7-E660-4452-B07D-D6064FAA58C0}" type="presParOf" srcId="{FE2BF941-0B07-4991-9B72-48AA5D4F422B}" destId="{41588FB3-6BF5-4B57-A46E-A0789C645F45}" srcOrd="2" destOrd="0" presId="urn:microsoft.com/office/officeart/2018/5/layout/IconCircleLabelList"/>
    <dgm:cxn modelId="{B87F0EBA-47DA-4C3C-8447-F00065AF3261}" type="presParOf" srcId="{FE2BF941-0B07-4991-9B72-48AA5D4F422B}" destId="{3D19C1C2-D7E3-4FE1-A230-9D32B3113FAD}" srcOrd="3" destOrd="0" presId="urn:microsoft.com/office/officeart/2018/5/layout/IconCircleLabelList"/>
    <dgm:cxn modelId="{2EF5EF97-CDE3-4439-BE63-C3578C074814}" type="presParOf" srcId="{53446F62-328D-4571-A489-16B31F18AE11}" destId="{E6D87551-D9AE-472E-948F-116081CCB1DA}" srcOrd="7" destOrd="0" presId="urn:microsoft.com/office/officeart/2018/5/layout/IconCircleLabelList"/>
    <dgm:cxn modelId="{64D32FF1-8A1E-4C04-B1D9-9D1B408C4900}" type="presParOf" srcId="{53446F62-328D-4571-A489-16B31F18AE11}" destId="{504FACCD-06CE-4880-8930-7732C94711BA}" srcOrd="8" destOrd="0" presId="urn:microsoft.com/office/officeart/2018/5/layout/IconCircleLabelList"/>
    <dgm:cxn modelId="{142AF939-5D24-47DA-8C3A-51DBD340873F}" type="presParOf" srcId="{504FACCD-06CE-4880-8930-7732C94711BA}" destId="{AE50E62B-4213-4955-B31A-BF336822FD66}" srcOrd="0" destOrd="0" presId="urn:microsoft.com/office/officeart/2018/5/layout/IconCircleLabelList"/>
    <dgm:cxn modelId="{D0433A3D-F6D1-46F4-9948-DF93BEF9833E}" type="presParOf" srcId="{504FACCD-06CE-4880-8930-7732C94711BA}" destId="{70515456-C0C8-4AF0-A3E2-9DBF7188BB0E}" srcOrd="1" destOrd="0" presId="urn:microsoft.com/office/officeart/2018/5/layout/IconCircleLabelList"/>
    <dgm:cxn modelId="{44B4A89C-CC63-425A-9A7B-56391432AC88}" type="presParOf" srcId="{504FACCD-06CE-4880-8930-7732C94711BA}" destId="{2C10B047-3BCC-4E7F-AC40-A6189BE208E7}" srcOrd="2" destOrd="0" presId="urn:microsoft.com/office/officeart/2018/5/layout/IconCircleLabelList"/>
    <dgm:cxn modelId="{49F3C81D-C406-4F9C-BD3E-06735DB9EC30}" type="presParOf" srcId="{504FACCD-06CE-4880-8930-7732C94711BA}" destId="{3ACE634E-5858-4FF1-A715-031377C55EF9}" srcOrd="3" destOrd="0" presId="urn:microsoft.com/office/officeart/2018/5/layout/IconCircle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747F76-370C-46A5-B731-D3ACC862E426}">
      <dsp:nvSpPr>
        <dsp:cNvPr id="0" name=""/>
        <dsp:cNvSpPr/>
      </dsp:nvSpPr>
      <dsp:spPr>
        <a:xfrm>
          <a:off x="1147" y="536200"/>
          <a:ext cx="4029452" cy="255870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0378EC-0F2F-4962-85B4-08710995BFE8}">
      <dsp:nvSpPr>
        <dsp:cNvPr id="0" name=""/>
        <dsp:cNvSpPr/>
      </dsp:nvSpPr>
      <dsp:spPr>
        <a:xfrm>
          <a:off x="448864" y="961531"/>
          <a:ext cx="4029452" cy="255870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This project aims to utilise Recurrent Neural Networks (RNNs) for the analysis of a dataset consisting data of different patients of thyroid nodules.</a:t>
          </a:r>
          <a:endParaRPr lang="en-US" sz="2000" kern="1200"/>
        </a:p>
      </dsp:txBody>
      <dsp:txXfrm>
        <a:off x="523806" y="1036473"/>
        <a:ext cx="3879568" cy="2408818"/>
      </dsp:txXfrm>
    </dsp:sp>
    <dsp:sp modelId="{95E7342B-4466-4C67-BC01-48F4D734DCAA}">
      <dsp:nvSpPr>
        <dsp:cNvPr id="0" name=""/>
        <dsp:cNvSpPr/>
      </dsp:nvSpPr>
      <dsp:spPr>
        <a:xfrm>
          <a:off x="4926034" y="536200"/>
          <a:ext cx="4029452" cy="255870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D3463C-891B-4255-BBC2-0B9A61C22BEA}">
      <dsp:nvSpPr>
        <dsp:cNvPr id="0" name=""/>
        <dsp:cNvSpPr/>
      </dsp:nvSpPr>
      <dsp:spPr>
        <a:xfrm>
          <a:off x="5373751" y="961531"/>
          <a:ext cx="4029452" cy="255870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The objective of training the RNN model on this dataset is to improve patient care and advance medical diagnostics by precisely identifying and categorising thyroid nodules.</a:t>
          </a:r>
          <a:br>
            <a:rPr lang="en-US" sz="2000" b="0" i="0" kern="1200"/>
          </a:br>
          <a:endParaRPr lang="en-US" sz="2000" kern="1200"/>
        </a:p>
      </dsp:txBody>
      <dsp:txXfrm>
        <a:off x="5448693" y="1036473"/>
        <a:ext cx="3879568" cy="24088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38B4A-7187-44B3-8007-31F59E5289F2}">
      <dsp:nvSpPr>
        <dsp:cNvPr id="0" name=""/>
        <dsp:cNvSpPr/>
      </dsp:nvSpPr>
      <dsp:spPr>
        <a:xfrm>
          <a:off x="668684" y="622138"/>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EAF881-9E70-4A71-8450-7B6F3EC4BAD0}">
      <dsp:nvSpPr>
        <dsp:cNvPr id="0" name=""/>
        <dsp:cNvSpPr/>
      </dsp:nvSpPr>
      <dsp:spPr>
        <a:xfrm>
          <a:off x="902684" y="856138"/>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D763773-DD91-4E91-9052-AB386D7F5F1C}">
      <dsp:nvSpPr>
        <dsp:cNvPr id="0" name=""/>
        <dsp:cNvSpPr/>
      </dsp:nvSpPr>
      <dsp:spPr>
        <a:xfrm>
          <a:off x="317684" y="20621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GB" sz="1300" kern="1200"/>
            <a:t>Methodology and Model Architecture</a:t>
          </a:r>
          <a:endParaRPr lang="en-US" sz="1300" kern="1200"/>
        </a:p>
      </dsp:txBody>
      <dsp:txXfrm>
        <a:off x="317684" y="2062138"/>
        <a:ext cx="1800000" cy="720000"/>
      </dsp:txXfrm>
    </dsp:sp>
    <dsp:sp modelId="{B6CDD3A4-0EA7-45EA-A368-0F8473399D8E}">
      <dsp:nvSpPr>
        <dsp:cNvPr id="0" name=""/>
        <dsp:cNvSpPr/>
      </dsp:nvSpPr>
      <dsp:spPr>
        <a:xfrm>
          <a:off x="2783684" y="622138"/>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541BD-C1A6-43A4-B049-7E1E46A8ADB1}">
      <dsp:nvSpPr>
        <dsp:cNvPr id="0" name=""/>
        <dsp:cNvSpPr/>
      </dsp:nvSpPr>
      <dsp:spPr>
        <a:xfrm>
          <a:off x="3017684" y="85613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0F63B2A-AB48-4ABF-A7C6-D7EAF2277872}">
      <dsp:nvSpPr>
        <dsp:cNvPr id="0" name=""/>
        <dsp:cNvSpPr/>
      </dsp:nvSpPr>
      <dsp:spPr>
        <a:xfrm>
          <a:off x="2432684" y="20621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GB" sz="1300" kern="1200"/>
            <a:t>Dataset Variability</a:t>
          </a:r>
          <a:endParaRPr lang="en-US" sz="1300" kern="1200"/>
        </a:p>
      </dsp:txBody>
      <dsp:txXfrm>
        <a:off x="2432684" y="2062138"/>
        <a:ext cx="1800000" cy="720000"/>
      </dsp:txXfrm>
    </dsp:sp>
    <dsp:sp modelId="{0015EB5A-5D2E-48A2-A1D7-090DBE88C058}">
      <dsp:nvSpPr>
        <dsp:cNvPr id="0" name=""/>
        <dsp:cNvSpPr/>
      </dsp:nvSpPr>
      <dsp:spPr>
        <a:xfrm>
          <a:off x="4898684" y="622138"/>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4AB2F-D3AC-4AB1-B234-E1120D651FB6}">
      <dsp:nvSpPr>
        <dsp:cNvPr id="0" name=""/>
        <dsp:cNvSpPr/>
      </dsp:nvSpPr>
      <dsp:spPr>
        <a:xfrm>
          <a:off x="5132684" y="85613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DFE359D-B6C1-4563-AF4A-72570C43EB8E}">
      <dsp:nvSpPr>
        <dsp:cNvPr id="0" name=""/>
        <dsp:cNvSpPr/>
      </dsp:nvSpPr>
      <dsp:spPr>
        <a:xfrm>
          <a:off x="4547684" y="20621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GB" sz="1300" kern="1200"/>
            <a:t>Evaluation Metrics</a:t>
          </a:r>
          <a:endParaRPr lang="en-US" sz="1300" kern="1200"/>
        </a:p>
      </dsp:txBody>
      <dsp:txXfrm>
        <a:off x="4547684" y="2062138"/>
        <a:ext cx="1800000" cy="720000"/>
      </dsp:txXfrm>
    </dsp:sp>
    <dsp:sp modelId="{C07C05CE-6C74-4890-B33A-7BAB537C8EC3}">
      <dsp:nvSpPr>
        <dsp:cNvPr id="0" name=""/>
        <dsp:cNvSpPr/>
      </dsp:nvSpPr>
      <dsp:spPr>
        <a:xfrm>
          <a:off x="7013685" y="622138"/>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411BF1-3208-4CC0-90E9-2C9DD9D37BAF}">
      <dsp:nvSpPr>
        <dsp:cNvPr id="0" name=""/>
        <dsp:cNvSpPr/>
      </dsp:nvSpPr>
      <dsp:spPr>
        <a:xfrm>
          <a:off x="7247685" y="85613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19C1C2-D7E3-4FE1-A230-9D32B3113FAD}">
      <dsp:nvSpPr>
        <dsp:cNvPr id="0" name=""/>
        <dsp:cNvSpPr/>
      </dsp:nvSpPr>
      <dsp:spPr>
        <a:xfrm>
          <a:off x="6662684" y="20621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GB" sz="1300" kern="1200"/>
            <a:t>Clinical Validation and Real-world Application</a:t>
          </a:r>
          <a:endParaRPr lang="en-US" sz="1300" kern="1200"/>
        </a:p>
      </dsp:txBody>
      <dsp:txXfrm>
        <a:off x="6662684" y="2062138"/>
        <a:ext cx="1800000" cy="720000"/>
      </dsp:txXfrm>
    </dsp:sp>
    <dsp:sp modelId="{AE50E62B-4213-4955-B31A-BF336822FD66}">
      <dsp:nvSpPr>
        <dsp:cNvPr id="0" name=""/>
        <dsp:cNvSpPr/>
      </dsp:nvSpPr>
      <dsp:spPr>
        <a:xfrm>
          <a:off x="9128685" y="622138"/>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515456-C0C8-4AF0-A3E2-9DBF7188BB0E}">
      <dsp:nvSpPr>
        <dsp:cNvPr id="0" name=""/>
        <dsp:cNvSpPr/>
      </dsp:nvSpPr>
      <dsp:spPr>
        <a:xfrm>
          <a:off x="9362684" y="85613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CE634E-5858-4FF1-A715-031377C55EF9}">
      <dsp:nvSpPr>
        <dsp:cNvPr id="0" name=""/>
        <dsp:cNvSpPr/>
      </dsp:nvSpPr>
      <dsp:spPr>
        <a:xfrm>
          <a:off x="8777685" y="20621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GB" sz="1300" kern="1200"/>
            <a:t>Ethical and Regulatory Considerations</a:t>
          </a:r>
          <a:endParaRPr lang="en-US" sz="1300" kern="1200"/>
        </a:p>
      </dsp:txBody>
      <dsp:txXfrm>
        <a:off x="8777685" y="2062138"/>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2E1451-B9C6-493B-BEAD-F3A9CA7F42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8279723-D4A8-4A60-BBE0-4CD5492C68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E20FF1-2114-4037-A236-8965B8550F5F}" type="datetimeFigureOut">
              <a:rPr lang="en-GB" smtClean="0"/>
              <a:t>26/11/2025</a:t>
            </a:fld>
            <a:endParaRPr lang="en-GB"/>
          </a:p>
        </p:txBody>
      </p:sp>
      <p:sp>
        <p:nvSpPr>
          <p:cNvPr id="4" name="Footer Placeholder 3">
            <a:extLst>
              <a:ext uri="{FF2B5EF4-FFF2-40B4-BE49-F238E27FC236}">
                <a16:creationId xmlns:a16="http://schemas.microsoft.com/office/drawing/2014/main" id="{FB907C11-E931-49F5-BF57-1129029145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8069F51A-1268-4C1C-AFD6-AF09AB6C1A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09DBA9-8F67-48EB-86DE-A393AB994B70}" type="slidenum">
              <a:rPr lang="en-GB" smtClean="0"/>
              <a:t>‹#›</a:t>
            </a:fld>
            <a:endParaRPr lang="en-GB"/>
          </a:p>
        </p:txBody>
      </p:sp>
    </p:spTree>
    <p:extLst>
      <p:ext uri="{BB962C8B-B14F-4D97-AF65-F5344CB8AC3E}">
        <p14:creationId xmlns:p14="http://schemas.microsoft.com/office/powerpoint/2010/main" val="36161946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54F6E-203F-47BE-86E7-0A7EFA3B4090}" type="datetimeFigureOut">
              <a:rPr lang="en-GB" smtClean="0"/>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407EB1-1FE0-4E05-98DF-342BA83E15BB}" type="slidenum">
              <a:rPr lang="en-GB" smtClean="0"/>
              <a:t>‹#›</a:t>
            </a:fld>
            <a:endParaRPr lang="en-GB"/>
          </a:p>
        </p:txBody>
      </p:sp>
    </p:spTree>
    <p:extLst>
      <p:ext uri="{BB962C8B-B14F-4D97-AF65-F5344CB8AC3E}">
        <p14:creationId xmlns:p14="http://schemas.microsoft.com/office/powerpoint/2010/main" val="375915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3407EB1-1FE0-4E05-98DF-342BA83E15BB}" type="slidenum">
              <a:rPr lang="en-GB" smtClean="0"/>
              <a:t>6</a:t>
            </a:fld>
            <a:endParaRPr lang="en-GB"/>
          </a:p>
        </p:txBody>
      </p:sp>
    </p:spTree>
    <p:extLst>
      <p:ext uri="{BB962C8B-B14F-4D97-AF65-F5344CB8AC3E}">
        <p14:creationId xmlns:p14="http://schemas.microsoft.com/office/powerpoint/2010/main" val="3268061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FAD3C0-270E-4294-9D49-4B625907ACBB}"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1739366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C86F2ED-9E76-4EAC-B756-EFFDCDC7B066}"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585768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B7B4F0-28FF-49C4-BDA3-D4BB68A735EA}"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205187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40C07C-97A4-42DB-826F-35B209BB6A4D}" type="datetime1">
              <a:rPr lang="en-GB" smtClean="0"/>
              <a:t>26/11/2025</a:t>
            </a:fld>
            <a:endParaRPr lang="en-GB"/>
          </a:p>
        </p:txBody>
      </p:sp>
      <p:sp>
        <p:nvSpPr>
          <p:cNvPr id="6" name="Footer Placeholder 5"/>
          <p:cNvSpPr>
            <a:spLocks noGrp="1"/>
          </p:cNvSpPr>
          <p:nvPr>
            <p:ph type="ftr" sz="quarter" idx="11"/>
          </p:nvPr>
        </p:nvSpPr>
        <p:spPr/>
        <p:txBody>
          <a:bodyPr/>
          <a:lstStyle/>
          <a:p>
            <a:r>
              <a:rPr lang="en-GB"/>
              <a:t>By - Vishal Reddy</a:t>
            </a:r>
          </a:p>
        </p:txBody>
      </p:sp>
      <p:sp>
        <p:nvSpPr>
          <p:cNvPr id="7" name="Slide Number Placeholder 6"/>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2304825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7E7420-353D-4CEF-990A-1C45ED545603}" type="datetime1">
              <a:rPr lang="en-GB" smtClean="0"/>
              <a:t>26/11/2025</a:t>
            </a:fld>
            <a:endParaRPr lang="en-GB"/>
          </a:p>
        </p:txBody>
      </p:sp>
      <p:sp>
        <p:nvSpPr>
          <p:cNvPr id="8" name="Footer Placeholder 7"/>
          <p:cNvSpPr>
            <a:spLocks noGrp="1"/>
          </p:cNvSpPr>
          <p:nvPr>
            <p:ph type="ftr" sz="quarter" idx="11"/>
          </p:nvPr>
        </p:nvSpPr>
        <p:spPr/>
        <p:txBody>
          <a:bodyPr/>
          <a:lstStyle/>
          <a:p>
            <a:r>
              <a:rPr lang="en-GB"/>
              <a:t>By - Vishal Reddy</a:t>
            </a:r>
          </a:p>
        </p:txBody>
      </p:sp>
      <p:sp>
        <p:nvSpPr>
          <p:cNvPr id="9" name="Slide Number Placeholder 8"/>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2186850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0C382E2-9B59-4D58-81F4-2C1C51BA5FEC}" type="datetime1">
              <a:rPr lang="en-GB" smtClean="0"/>
              <a:t>26/11/2025</a:t>
            </a:fld>
            <a:endParaRPr lang="en-GB"/>
          </a:p>
        </p:txBody>
      </p:sp>
      <p:sp>
        <p:nvSpPr>
          <p:cNvPr id="5" name="Footer Placeholder 3"/>
          <p:cNvSpPr>
            <a:spLocks noGrp="1"/>
          </p:cNvSpPr>
          <p:nvPr>
            <p:ph type="ftr" sz="quarter" idx="11"/>
          </p:nvPr>
        </p:nvSpPr>
        <p:spPr/>
        <p:txBody>
          <a:bodyPr/>
          <a:lstStyle/>
          <a:p>
            <a:r>
              <a:rPr lang="en-GB"/>
              <a:t>By - Vishal Reddy</a:t>
            </a:r>
          </a:p>
        </p:txBody>
      </p:sp>
      <p:sp>
        <p:nvSpPr>
          <p:cNvPr id="6" name="Slide Number Placeholder 4"/>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457637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D9C74EE-EB79-4C8A-93AF-4D62E6987CDD}" type="datetime1">
              <a:rPr lang="en-GB" smtClean="0"/>
              <a:t>26/11/2025</a:t>
            </a:fld>
            <a:endParaRPr lang="en-GB"/>
          </a:p>
        </p:txBody>
      </p:sp>
      <p:sp>
        <p:nvSpPr>
          <p:cNvPr id="5" name="Footer Placeholder 2"/>
          <p:cNvSpPr>
            <a:spLocks noGrp="1"/>
          </p:cNvSpPr>
          <p:nvPr>
            <p:ph type="ftr" sz="quarter" idx="11"/>
          </p:nvPr>
        </p:nvSpPr>
        <p:spPr/>
        <p:txBody>
          <a:bodyPr/>
          <a:lstStyle/>
          <a:p>
            <a:r>
              <a:rPr lang="en-GB"/>
              <a:t>By - Vishal Reddy</a:t>
            </a:r>
          </a:p>
        </p:txBody>
      </p:sp>
      <p:sp>
        <p:nvSpPr>
          <p:cNvPr id="6" name="Slide Number Placeholder 3"/>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158369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924F80E-FE9C-414E-983E-EDDDA66123FC}" type="datetime1">
              <a:rPr lang="en-GB" smtClean="0"/>
              <a:t>26/11/2025</a:t>
            </a:fld>
            <a:endParaRPr lang="en-GB"/>
          </a:p>
        </p:txBody>
      </p:sp>
      <p:sp>
        <p:nvSpPr>
          <p:cNvPr id="5" name="Footer Placeholder 5"/>
          <p:cNvSpPr>
            <a:spLocks noGrp="1"/>
          </p:cNvSpPr>
          <p:nvPr>
            <p:ph type="ftr" sz="quarter" idx="11"/>
          </p:nvPr>
        </p:nvSpPr>
        <p:spPr/>
        <p:txBody>
          <a:bodyPr/>
          <a:lstStyle/>
          <a:p>
            <a:r>
              <a:rPr lang="en-GB"/>
              <a:t>By - Vishal Reddy</a:t>
            </a:r>
          </a:p>
        </p:txBody>
      </p:sp>
      <p:sp>
        <p:nvSpPr>
          <p:cNvPr id="6" name="Slide Number Placeholder 6"/>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1138622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07806F-C902-48A5-90B1-A051E2EBCF6E}" type="datetime1">
              <a:rPr lang="en-GB" smtClean="0"/>
              <a:t>26/11/2025</a:t>
            </a:fld>
            <a:endParaRPr lang="en-GB"/>
          </a:p>
        </p:txBody>
      </p:sp>
      <p:sp>
        <p:nvSpPr>
          <p:cNvPr id="6" name="Footer Placeholder 5"/>
          <p:cNvSpPr>
            <a:spLocks noGrp="1"/>
          </p:cNvSpPr>
          <p:nvPr>
            <p:ph type="ftr" sz="quarter" idx="11"/>
          </p:nvPr>
        </p:nvSpPr>
        <p:spPr/>
        <p:txBody>
          <a:bodyPr/>
          <a:lstStyle/>
          <a:p>
            <a:r>
              <a:rPr lang="en-GB"/>
              <a:t>By - Vishal Reddy</a:t>
            </a:r>
          </a:p>
        </p:txBody>
      </p:sp>
      <p:sp>
        <p:nvSpPr>
          <p:cNvPr id="7" name="Slide Number Placeholder 6"/>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88734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F33545-2BE4-4B88-84DE-693621D0B290}" type="datetime1">
              <a:rPr lang="en-GB" smtClean="0"/>
              <a:t>26/11/2025</a:t>
            </a:fld>
            <a:endParaRPr lang="en-GB"/>
          </a:p>
        </p:txBody>
      </p:sp>
      <p:sp>
        <p:nvSpPr>
          <p:cNvPr id="6" name="Footer Placeholder 5"/>
          <p:cNvSpPr>
            <a:spLocks noGrp="1"/>
          </p:cNvSpPr>
          <p:nvPr>
            <p:ph type="ftr" sz="quarter" idx="11"/>
          </p:nvPr>
        </p:nvSpPr>
        <p:spPr/>
        <p:txBody>
          <a:bodyPr/>
          <a:lstStyle/>
          <a:p>
            <a:r>
              <a:rPr lang="en-GB"/>
              <a:t>By - Vishal Reddy</a:t>
            </a:r>
          </a:p>
        </p:txBody>
      </p:sp>
      <p:sp>
        <p:nvSpPr>
          <p:cNvPr id="7" name="Slide Number Placeholder 6"/>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97098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7B9FE2-A936-49B0-ABFE-8289104A118D}"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272512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CA038AA-55C2-4460-A3BF-5295FFE56871}"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67686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F9A055-5EC5-490D-A70D-A26B8F6E4607}"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2956124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7F913FA-A6EF-4F5A-802E-DE1A50CD393D}" type="datetime1">
              <a:rPr lang="en-GB" smtClean="0"/>
              <a:t>26/11/2025</a:t>
            </a:fld>
            <a:endParaRPr lang="en-GB"/>
          </a:p>
        </p:txBody>
      </p:sp>
      <p:sp>
        <p:nvSpPr>
          <p:cNvPr id="4"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2115923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D755A9-530B-4618-808F-43CCE0ACC879}" type="datetime1">
              <a:rPr lang="en-GB" smtClean="0"/>
              <a:t>26/11/2025</a:t>
            </a:fld>
            <a:endParaRPr lang="en-GB"/>
          </a:p>
        </p:txBody>
      </p:sp>
      <p:sp>
        <p:nvSpPr>
          <p:cNvPr id="4"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94868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5F40C8-3A7C-45DB-A748-B5B684637DDA}"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011262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41F57A-E68F-44AB-BCEA-10F7A0709831}" type="datetime1">
              <a:rPr lang="en-GB" smtClean="0"/>
              <a:t>26/11/2025</a:t>
            </a:fld>
            <a:endParaRPr lang="en-GB"/>
          </a:p>
        </p:txBody>
      </p:sp>
      <p:sp>
        <p:nvSpPr>
          <p:cNvPr id="5" name="Footer Placeholder 4"/>
          <p:cNvSpPr>
            <a:spLocks noGrp="1"/>
          </p:cNvSpPr>
          <p:nvPr>
            <p:ph type="ftr" sz="quarter" idx="11"/>
          </p:nvPr>
        </p:nvSpPr>
        <p:spPr/>
        <p:txBody>
          <a:bodyPr/>
          <a:lstStyle/>
          <a:p>
            <a:r>
              <a:rPr lang="en-GB"/>
              <a:t>By - Vishal Reddy</a:t>
            </a:r>
          </a:p>
        </p:txBody>
      </p:sp>
      <p:sp>
        <p:nvSpPr>
          <p:cNvPr id="6" name="Slide Number Placeholder 5"/>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3798738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5861-B1AE-4001-B58A-1621854DE6A7}"/>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227258-8656-45BE-AF97-C3F746732E3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3EC646-A3DF-4671-A36C-C0E5DE4DCEFA}"/>
              </a:ext>
            </a:extLst>
          </p:cNvPr>
          <p:cNvSpPr>
            <a:spLocks noGrp="1"/>
          </p:cNvSpPr>
          <p:nvPr>
            <p:ph type="dt" sz="half" idx="10"/>
          </p:nvPr>
        </p:nvSpPr>
        <p:spPr/>
        <p:txBody>
          <a:bodyPr/>
          <a:lstStyle/>
          <a:p>
            <a:fld id="{E61F4FF6-5815-4F63-9BD9-D247493BD4E6}" type="datetime1">
              <a:rPr lang="en-GB" smtClean="0"/>
              <a:t>26/11/2025</a:t>
            </a:fld>
            <a:endParaRPr lang="en-GB"/>
          </a:p>
        </p:txBody>
      </p:sp>
      <p:sp>
        <p:nvSpPr>
          <p:cNvPr id="5" name="Footer Placeholder 4">
            <a:extLst>
              <a:ext uri="{FF2B5EF4-FFF2-40B4-BE49-F238E27FC236}">
                <a16:creationId xmlns:a16="http://schemas.microsoft.com/office/drawing/2014/main" id="{7303D1EE-D06E-4A23-9AB0-D24E09B4AE90}"/>
              </a:ext>
            </a:extLst>
          </p:cNvPr>
          <p:cNvSpPr>
            <a:spLocks noGrp="1"/>
          </p:cNvSpPr>
          <p:nvPr>
            <p:ph type="ftr" sz="quarter" idx="11"/>
          </p:nvPr>
        </p:nvSpPr>
        <p:spPr/>
        <p:txBody>
          <a:bodyPr/>
          <a:lstStyle/>
          <a:p>
            <a:r>
              <a:rPr lang="en-GB"/>
              <a:t>By - Vishal Reddy</a:t>
            </a:r>
          </a:p>
        </p:txBody>
      </p:sp>
      <p:sp>
        <p:nvSpPr>
          <p:cNvPr id="6" name="Slide Number Placeholder 5">
            <a:extLst>
              <a:ext uri="{FF2B5EF4-FFF2-40B4-BE49-F238E27FC236}">
                <a16:creationId xmlns:a16="http://schemas.microsoft.com/office/drawing/2014/main" id="{E7698C26-BFCF-4CF2-94C8-F3F0C3FED967}"/>
              </a:ext>
            </a:extLst>
          </p:cNvPr>
          <p:cNvSpPr>
            <a:spLocks noGrp="1"/>
          </p:cNvSpPr>
          <p:nvPr>
            <p:ph type="sldNum" sz="quarter" idx="12"/>
          </p:nvPr>
        </p:nvSpPr>
        <p:spPr/>
        <p:txBody>
          <a:bodyPr/>
          <a:lstStyle/>
          <a:p>
            <a:fld id="{715FBCD7-B17D-4556-AA94-555EC12691CF}" type="slidenum">
              <a:rPr lang="en-GB" smtClean="0"/>
              <a:t>‹#›</a:t>
            </a:fld>
            <a:endParaRPr lang="en-GB"/>
          </a:p>
        </p:txBody>
      </p:sp>
    </p:spTree>
    <p:extLst>
      <p:ext uri="{BB962C8B-B14F-4D97-AF65-F5344CB8AC3E}">
        <p14:creationId xmlns:p14="http://schemas.microsoft.com/office/powerpoint/2010/main" val="4090330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09D5976-D06D-4D3F-9F9F-F5524357B73A}" type="datetime1">
              <a:rPr lang="en-GB" smtClean="0"/>
              <a:t>26/11/2025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GB"/>
              <a:t>By - Vishal Reddy</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5FBCD7-B17D-4556-AA94-555EC12691CF}" type="slidenum">
              <a:rPr lang="en-GB" smtClean="0"/>
              <a:t>‹#›</a:t>
            </a:fld>
            <a:endParaRPr lang="en-GB"/>
          </a:p>
        </p:txBody>
      </p:sp>
    </p:spTree>
    <p:extLst>
      <p:ext uri="{BB962C8B-B14F-4D97-AF65-F5344CB8AC3E}">
        <p14:creationId xmlns:p14="http://schemas.microsoft.com/office/powerpoint/2010/main" val="2121551396"/>
      </p:ext>
    </p:extLst>
  </p:cSld>
  <p:clrMap bg1="dk1" tx1="lt1" bg2="dk2" tx2="lt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099" r:id="rId14"/>
    <p:sldLayoutId id="2147484100" r:id="rId15"/>
    <p:sldLayoutId id="2147484101" r:id="rId16"/>
    <p:sldLayoutId id="2147484102" r:id="rId17"/>
    <p:sldLayoutId id="2147484103"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10.jpe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2.png"/><Relationship Id="rId7" Type="http://schemas.openxmlformats.org/officeDocument/2006/relationships/diagramData" Target="../diagrams/data1.xml"/><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11" Type="http://schemas.microsoft.com/office/2007/relationships/diagramDrawing" Target="../diagrams/drawing1.xml"/><Relationship Id="rId5" Type="http://schemas.openxmlformats.org/officeDocument/2006/relationships/image" Target="../media/image4.png"/><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3.png"/><Relationship Id="rId7" Type="http://schemas.openxmlformats.org/officeDocument/2006/relationships/diagramLayout" Target="../diagrams/layout2.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diagramData" Target="../diagrams/data2.xml"/><Relationship Id="rId5" Type="http://schemas.openxmlformats.org/officeDocument/2006/relationships/image" Target="../media/image5.png"/><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24.jpe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25.jpe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bin"/><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27.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33.jpe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hyperlink" Target="https://journals.sagepub.com/doi/10.1177/01617346231200804" TargetMode="External"/><Relationship Id="rId2" Type="http://schemas.openxmlformats.org/officeDocument/2006/relationships/hyperlink" Target="https://en.wikipedia.org/wiki/Thyroid_nodule#:~:text=Thyroid%20nodules%20are%20nodules%20(raised,common%2C%20and%20often%20go%20unnoticed" TargetMode="External"/><Relationship Id="rId1" Type="http://schemas.openxmlformats.org/officeDocument/2006/relationships/slideLayout" Target="../slideLayouts/slideLayout18.xml"/><Relationship Id="rId5" Type="http://schemas.openxmlformats.org/officeDocument/2006/relationships/hyperlink" Target="https://doi.org/10.1097/MD.0000000000020634" TargetMode="External"/><Relationship Id="rId4" Type="http://schemas.openxmlformats.org/officeDocument/2006/relationships/hyperlink" Target="https://wjso.biomedcentral.com/articles/10.1186/s12957-019-1558-z"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AE25-6EA7-4C1C-9E3C-99B417EDF8E4}"/>
              </a:ext>
            </a:extLst>
          </p:cNvPr>
          <p:cNvSpPr>
            <a:spLocks noGrp="1"/>
          </p:cNvSpPr>
          <p:nvPr>
            <p:ph type="title"/>
          </p:nvPr>
        </p:nvSpPr>
        <p:spPr>
          <a:xfrm>
            <a:off x="5224006" y="629266"/>
            <a:ext cx="4985469" cy="2289032"/>
          </a:xfrm>
        </p:spPr>
        <p:txBody>
          <a:bodyPr vert="horz" lIns="91440" tIns="45720" rIns="91440" bIns="45720" rtlCol="0">
            <a:noAutofit/>
          </a:bodyPr>
          <a:lstStyle/>
          <a:p>
            <a:pPr>
              <a:lnSpc>
                <a:spcPct val="90000"/>
              </a:lnSpc>
            </a:pPr>
            <a:r>
              <a:rPr lang="en-US" sz="4000" b="1" i="0" kern="1200" dirty="0">
                <a:latin typeface="+mj-lt"/>
                <a:ea typeface="+mj-ea"/>
                <a:cs typeface="+mj-cs"/>
              </a:rPr>
              <a:t>Detection of Thyroid Nodules using Deep Learning</a:t>
            </a:r>
            <a:br>
              <a:rPr lang="en-US" sz="4000" b="1" i="0" kern="1200" dirty="0">
                <a:latin typeface="+mj-lt"/>
                <a:ea typeface="+mj-ea"/>
                <a:cs typeface="+mj-cs"/>
              </a:rPr>
            </a:br>
            <a:endParaRPr lang="en-US" sz="4000" b="1" i="0" kern="1200" dirty="0">
              <a:latin typeface="+mj-lt"/>
              <a:ea typeface="+mj-ea"/>
              <a:cs typeface="+mj-cs"/>
            </a:endParaRPr>
          </a:p>
        </p:txBody>
      </p:sp>
      <p:pic>
        <p:nvPicPr>
          <p:cNvPr id="5" name="Content Placeholder 4" descr="DNA">
            <a:extLst>
              <a:ext uri="{FF2B5EF4-FFF2-40B4-BE49-F238E27FC236}">
                <a16:creationId xmlns:a16="http://schemas.microsoft.com/office/drawing/2014/main" id="{A4474D95-9DE0-41A9-AA09-B425463C84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6914" y="1339536"/>
            <a:ext cx="4261089" cy="4261089"/>
          </a:xfrm>
          <a:prstGeom prst="rect">
            <a:avLst/>
          </a:prstGeom>
          <a:effectLst>
            <a:outerShdw blurRad="50800" dist="38100" dir="5400000" algn="t" rotWithShape="0">
              <a:prstClr val="black">
                <a:alpha val="43000"/>
              </a:prstClr>
            </a:outerShdw>
          </a:effectLst>
        </p:spPr>
      </p:pic>
      <p:sp>
        <p:nvSpPr>
          <p:cNvPr id="32" name="Content Placeholder 31">
            <a:extLst>
              <a:ext uri="{FF2B5EF4-FFF2-40B4-BE49-F238E27FC236}">
                <a16:creationId xmlns:a16="http://schemas.microsoft.com/office/drawing/2014/main" id="{704B7229-72F1-E187-EF95-9753CFA58A80}"/>
              </a:ext>
            </a:extLst>
          </p:cNvPr>
          <p:cNvSpPr>
            <a:spLocks noGrp="1"/>
          </p:cNvSpPr>
          <p:nvPr>
            <p:ph idx="1"/>
          </p:nvPr>
        </p:nvSpPr>
        <p:spPr>
          <a:xfrm>
            <a:off x="5224005" y="3044757"/>
            <a:ext cx="4985470" cy="3203642"/>
          </a:xfrm>
        </p:spPr>
        <p:txBody>
          <a:bodyPr>
            <a:normAutofit/>
          </a:bodyPr>
          <a:lstStyle/>
          <a:p>
            <a:pPr marL="0" indent="0">
              <a:buNone/>
            </a:pPr>
            <a:endParaRPr lang="en-US" dirty="0"/>
          </a:p>
        </p:txBody>
      </p:sp>
    </p:spTree>
    <p:extLst>
      <p:ext uri="{BB962C8B-B14F-4D97-AF65-F5344CB8AC3E}">
        <p14:creationId xmlns:p14="http://schemas.microsoft.com/office/powerpoint/2010/main" val="147256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60BF0-A1EA-417D-9C3E-16BA9EF7E20B}"/>
              </a:ext>
            </a:extLst>
          </p:cNvPr>
          <p:cNvSpPr>
            <a:spLocks noGrp="1"/>
          </p:cNvSpPr>
          <p:nvPr>
            <p:ph type="title"/>
          </p:nvPr>
        </p:nvSpPr>
        <p:spPr>
          <a:xfrm>
            <a:off x="5282381" y="629266"/>
            <a:ext cx="4767471" cy="1641986"/>
          </a:xfrm>
        </p:spPr>
        <p:txBody>
          <a:bodyPr>
            <a:normAutofit/>
          </a:bodyPr>
          <a:lstStyle/>
          <a:p>
            <a:r>
              <a:rPr lang="en-US" dirty="0"/>
              <a:t>Overview</a:t>
            </a:r>
            <a:endParaRPr lang="en-GB" dirty="0"/>
          </a:p>
        </p:txBody>
      </p:sp>
      <p:pic>
        <p:nvPicPr>
          <p:cNvPr id="5" name="Picture 4" descr="Coin-operated binoculars above Central Park Manhatten">
            <a:extLst>
              <a:ext uri="{FF2B5EF4-FFF2-40B4-BE49-F238E27FC236}">
                <a16:creationId xmlns:a16="http://schemas.microsoft.com/office/drawing/2014/main" id="{E08A6194-1CB2-5F27-8440-F76D1641F59D}"/>
              </a:ext>
            </a:extLst>
          </p:cNvPr>
          <p:cNvPicPr>
            <a:picLocks noChangeAspect="1"/>
          </p:cNvPicPr>
          <p:nvPr/>
        </p:nvPicPr>
        <p:blipFill rotWithShape="1">
          <a:blip r:embed="rId3"/>
          <a:srcRect l="11869" r="43190"/>
          <a:stretch/>
        </p:blipFill>
        <p:spPr>
          <a:xfrm>
            <a:off x="-1" y="-165360"/>
            <a:ext cx="4634680" cy="6857990"/>
          </a:xfrm>
          <a:prstGeom prst="rect">
            <a:avLst/>
          </a:prstGeom>
        </p:spPr>
      </p:pic>
      <p:sp>
        <p:nvSpPr>
          <p:cNvPr id="3" name="Content Placeholder 2">
            <a:extLst>
              <a:ext uri="{FF2B5EF4-FFF2-40B4-BE49-F238E27FC236}">
                <a16:creationId xmlns:a16="http://schemas.microsoft.com/office/drawing/2014/main" id="{31D28095-D58F-4B68-9EDC-B90D46E9591A}"/>
              </a:ext>
            </a:extLst>
          </p:cNvPr>
          <p:cNvSpPr>
            <a:spLocks noGrp="1"/>
          </p:cNvSpPr>
          <p:nvPr>
            <p:ph idx="1"/>
          </p:nvPr>
        </p:nvSpPr>
        <p:spPr>
          <a:xfrm>
            <a:off x="5282381" y="1704514"/>
            <a:ext cx="4767471" cy="4543886"/>
          </a:xfrm>
        </p:spPr>
        <p:txBody>
          <a:bodyPr>
            <a:normAutofit fontScale="77500" lnSpcReduction="20000"/>
          </a:bodyPr>
          <a:lstStyle/>
          <a:p>
            <a:pPr indent="-228600" algn="l">
              <a:lnSpc>
                <a:spcPct val="110000"/>
              </a:lnSpc>
              <a:buFont typeface="Arial" panose="020B0604020202020204" pitchFamily="34" charset="0"/>
              <a:buChar char="•"/>
            </a:pPr>
            <a:r>
              <a:rPr lang="en-US" sz="2000" dirty="0"/>
              <a:t>Introduction</a:t>
            </a:r>
          </a:p>
          <a:p>
            <a:pPr indent="-228600" algn="l">
              <a:lnSpc>
                <a:spcPct val="110000"/>
              </a:lnSpc>
              <a:buFont typeface="Arial" panose="020B0604020202020204" pitchFamily="34" charset="0"/>
              <a:buChar char="•"/>
            </a:pPr>
            <a:r>
              <a:rPr lang="en-US" sz="2000" dirty="0"/>
              <a:t>Aim &amp; Objective</a:t>
            </a:r>
          </a:p>
          <a:p>
            <a:pPr indent="-228600" algn="l">
              <a:lnSpc>
                <a:spcPct val="110000"/>
              </a:lnSpc>
              <a:buFont typeface="Arial" panose="020B0604020202020204" pitchFamily="34" charset="0"/>
              <a:buChar char="•"/>
            </a:pPr>
            <a:r>
              <a:rPr lang="en-US" sz="2000" dirty="0"/>
              <a:t>Problem Statement</a:t>
            </a:r>
          </a:p>
          <a:p>
            <a:pPr indent="-228600" algn="l">
              <a:lnSpc>
                <a:spcPct val="110000"/>
              </a:lnSpc>
              <a:buFont typeface="Arial" panose="020B0604020202020204" pitchFamily="34" charset="0"/>
              <a:buChar char="•"/>
            </a:pPr>
            <a:r>
              <a:rPr lang="en-US" sz="2000" dirty="0"/>
              <a:t>Subject Area</a:t>
            </a:r>
          </a:p>
          <a:p>
            <a:pPr indent="-228600" algn="l">
              <a:lnSpc>
                <a:spcPct val="110000"/>
              </a:lnSpc>
              <a:buFont typeface="Arial" panose="020B0604020202020204" pitchFamily="34" charset="0"/>
              <a:buChar char="•"/>
            </a:pPr>
            <a:r>
              <a:rPr lang="en-US" sz="2000" dirty="0"/>
              <a:t>Project Goals</a:t>
            </a:r>
          </a:p>
          <a:p>
            <a:pPr indent="-228600" algn="l">
              <a:lnSpc>
                <a:spcPct val="110000"/>
              </a:lnSpc>
              <a:buFont typeface="Arial" panose="020B0604020202020204" pitchFamily="34" charset="0"/>
              <a:buChar char="•"/>
            </a:pPr>
            <a:r>
              <a:rPr lang="en-US" sz="2000" dirty="0"/>
              <a:t>Related Studies</a:t>
            </a:r>
          </a:p>
          <a:p>
            <a:pPr indent="-228600" algn="l">
              <a:lnSpc>
                <a:spcPct val="110000"/>
              </a:lnSpc>
              <a:buFont typeface="Arial" panose="020B0604020202020204" pitchFamily="34" charset="0"/>
              <a:buChar char="•"/>
            </a:pPr>
            <a:r>
              <a:rPr lang="en-US" sz="2000" dirty="0"/>
              <a:t>Research Gaps</a:t>
            </a:r>
          </a:p>
          <a:p>
            <a:pPr indent="-228600" algn="l">
              <a:lnSpc>
                <a:spcPct val="110000"/>
              </a:lnSpc>
              <a:buFont typeface="Arial" panose="020B0604020202020204" pitchFamily="34" charset="0"/>
              <a:buChar char="•"/>
            </a:pPr>
            <a:r>
              <a:rPr lang="en-US" sz="2000" dirty="0"/>
              <a:t>Datasets</a:t>
            </a:r>
          </a:p>
          <a:p>
            <a:pPr indent="-228600" algn="l">
              <a:lnSpc>
                <a:spcPct val="110000"/>
              </a:lnSpc>
              <a:buFont typeface="Arial" panose="020B0604020202020204" pitchFamily="34" charset="0"/>
              <a:buChar char="•"/>
            </a:pPr>
            <a:r>
              <a:rPr lang="en-US" sz="2000" dirty="0"/>
              <a:t>Methodology</a:t>
            </a:r>
          </a:p>
          <a:p>
            <a:pPr indent="-228600" algn="l">
              <a:lnSpc>
                <a:spcPct val="110000"/>
              </a:lnSpc>
              <a:buFont typeface="Arial" panose="020B0604020202020204" pitchFamily="34" charset="0"/>
              <a:buChar char="•"/>
            </a:pPr>
            <a:r>
              <a:rPr lang="en-US" sz="2000" dirty="0"/>
              <a:t>Model Architecture &amp; Evaluation</a:t>
            </a:r>
          </a:p>
          <a:p>
            <a:pPr indent="-228600" algn="l">
              <a:lnSpc>
                <a:spcPct val="110000"/>
              </a:lnSpc>
              <a:buFont typeface="Arial" panose="020B0604020202020204" pitchFamily="34" charset="0"/>
              <a:buChar char="•"/>
            </a:pPr>
            <a:r>
              <a:rPr lang="en-US" sz="2000" dirty="0"/>
              <a:t>Results</a:t>
            </a:r>
          </a:p>
          <a:p>
            <a:pPr indent="-228600" algn="l">
              <a:lnSpc>
                <a:spcPct val="110000"/>
              </a:lnSpc>
              <a:buFont typeface="Arial" panose="020B0604020202020204" pitchFamily="34" charset="0"/>
              <a:buChar char="•"/>
            </a:pPr>
            <a:r>
              <a:rPr lang="en-US" sz="2000" dirty="0"/>
              <a:t>Conclusion</a:t>
            </a:r>
          </a:p>
          <a:p>
            <a:pPr indent="-228600" algn="l">
              <a:lnSpc>
                <a:spcPct val="110000"/>
              </a:lnSpc>
              <a:buFont typeface="Arial" panose="020B0604020202020204" pitchFamily="34" charset="0"/>
              <a:buChar char="•"/>
            </a:pPr>
            <a:r>
              <a:rPr lang="en-US" sz="2000" dirty="0"/>
              <a:t>References</a:t>
            </a:r>
          </a:p>
          <a:p>
            <a:endParaRPr lang="en-GB" dirty="0"/>
          </a:p>
        </p:txBody>
      </p:sp>
    </p:spTree>
    <p:extLst>
      <p:ext uri="{BB962C8B-B14F-4D97-AF65-F5344CB8AC3E}">
        <p14:creationId xmlns:p14="http://schemas.microsoft.com/office/powerpoint/2010/main" val="3656931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4C10-E0D2-443C-B3A5-4E2BC5651800}"/>
              </a:ext>
            </a:extLst>
          </p:cNvPr>
          <p:cNvSpPr>
            <a:spLocks noGrp="1"/>
          </p:cNvSpPr>
          <p:nvPr>
            <p:ph type="title"/>
          </p:nvPr>
        </p:nvSpPr>
        <p:spPr/>
        <p:txBody>
          <a:bodyPr/>
          <a:lstStyle/>
          <a:p>
            <a:r>
              <a:rPr lang="en-US" dirty="0"/>
              <a:t>What are Thyroid Nodules?</a:t>
            </a:r>
            <a:endParaRPr lang="en-GB" dirty="0"/>
          </a:p>
        </p:txBody>
      </p:sp>
      <p:sp>
        <p:nvSpPr>
          <p:cNvPr id="3" name="Content Placeholder 2">
            <a:extLst>
              <a:ext uri="{FF2B5EF4-FFF2-40B4-BE49-F238E27FC236}">
                <a16:creationId xmlns:a16="http://schemas.microsoft.com/office/drawing/2014/main" id="{7D40C135-9394-492A-B268-DFC93DAF8BD5}"/>
              </a:ext>
            </a:extLst>
          </p:cNvPr>
          <p:cNvSpPr>
            <a:spLocks noGrp="1"/>
          </p:cNvSpPr>
          <p:nvPr>
            <p:ph idx="1"/>
          </p:nvPr>
        </p:nvSpPr>
        <p:spPr>
          <a:xfrm>
            <a:off x="616536" y="1688933"/>
            <a:ext cx="5479464" cy="4195481"/>
          </a:xfrm>
        </p:spPr>
        <p:txBody>
          <a:bodyPr/>
          <a:lstStyle/>
          <a:p>
            <a:r>
              <a:rPr lang="en-GB" dirty="0">
                <a:latin typeface="Arial" panose="020B0604020202020204" pitchFamily="34" charset="0"/>
                <a:cs typeface="Arial" panose="020B0604020202020204" pitchFamily="34" charset="0"/>
              </a:rPr>
              <a:t>Thyroid nodules are nodules (raised areas of tissue or fluid) which commonly arise within an otherwise normal thyroid gland.[1] They may be hyperplastic or tumorous, but only a small percentage of thyroid </a:t>
            </a:r>
            <a:r>
              <a:rPr lang="en-GB" dirty="0" err="1">
                <a:latin typeface="Arial" panose="020B0604020202020204" pitchFamily="34" charset="0"/>
                <a:cs typeface="Arial" panose="020B0604020202020204" pitchFamily="34" charset="0"/>
              </a:rPr>
              <a:t>tumors</a:t>
            </a:r>
            <a:r>
              <a:rPr lang="en-GB" dirty="0">
                <a:latin typeface="Arial" panose="020B0604020202020204" pitchFamily="34" charset="0"/>
                <a:cs typeface="Arial" panose="020B0604020202020204" pitchFamily="34" charset="0"/>
              </a:rPr>
              <a:t> are malignant. Small, asymptomatic nodules are common, and often go unnoticed (Thyroid Nodule, 2023).</a:t>
            </a:r>
          </a:p>
        </p:txBody>
      </p:sp>
      <p:pic>
        <p:nvPicPr>
          <p:cNvPr id="5" name="Picture 4">
            <a:extLst>
              <a:ext uri="{FF2B5EF4-FFF2-40B4-BE49-F238E27FC236}">
                <a16:creationId xmlns:a16="http://schemas.microsoft.com/office/drawing/2014/main" id="{D8E06808-7C7C-4897-B777-5DACDBB15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7228" y="1225118"/>
            <a:ext cx="5479464" cy="5508594"/>
          </a:xfrm>
          <a:prstGeom prst="rect">
            <a:avLst/>
          </a:prstGeom>
        </p:spPr>
      </p:pic>
    </p:spTree>
    <p:extLst>
      <p:ext uri="{BB962C8B-B14F-4D97-AF65-F5344CB8AC3E}">
        <p14:creationId xmlns:p14="http://schemas.microsoft.com/office/powerpoint/2010/main" val="3201520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1" name="Rectangle 21">
            <a:extLst>
              <a:ext uri="{FF2B5EF4-FFF2-40B4-BE49-F238E27FC236}">
                <a16:creationId xmlns:a16="http://schemas.microsoft.com/office/drawing/2014/main" id="{29787B81-C7DF-412B-A405-EF4454012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accine storage and manufacturing">
            <a:extLst>
              <a:ext uri="{FF2B5EF4-FFF2-40B4-BE49-F238E27FC236}">
                <a16:creationId xmlns:a16="http://schemas.microsoft.com/office/drawing/2014/main" id="{6F761247-7031-E5B0-DEAD-07BCDC0C9C60}"/>
              </a:ext>
            </a:extLst>
          </p:cNvPr>
          <p:cNvPicPr>
            <a:picLocks noChangeAspect="1"/>
          </p:cNvPicPr>
          <p:nvPr/>
        </p:nvPicPr>
        <p:blipFill rotWithShape="1">
          <a:blip r:embed="rId6">
            <a:alphaModFix amt="35000"/>
          </a:blip>
          <a:srcRect t="1060" b="14670"/>
          <a:stretch/>
        </p:blipFill>
        <p:spPr>
          <a:xfrm>
            <a:off x="20" y="-1"/>
            <a:ext cx="12191980" cy="6858000"/>
          </a:xfrm>
          <a:prstGeom prst="rect">
            <a:avLst/>
          </a:prstGeom>
        </p:spPr>
      </p:pic>
      <p:sp>
        <p:nvSpPr>
          <p:cNvPr id="2" name="Title 1">
            <a:extLst>
              <a:ext uri="{FF2B5EF4-FFF2-40B4-BE49-F238E27FC236}">
                <a16:creationId xmlns:a16="http://schemas.microsoft.com/office/drawing/2014/main" id="{CF788FC1-0226-4E8B-80F7-56B322776518}"/>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Introduction</a:t>
            </a:r>
          </a:p>
        </p:txBody>
      </p:sp>
      <p:sp>
        <p:nvSpPr>
          <p:cNvPr id="13" name="Text Placeholder 2">
            <a:extLst>
              <a:ext uri="{FF2B5EF4-FFF2-40B4-BE49-F238E27FC236}">
                <a16:creationId xmlns:a16="http://schemas.microsoft.com/office/drawing/2014/main" id="{54D17012-92E9-441B-8C7E-AB1322613A7D}"/>
              </a:ext>
            </a:extLst>
          </p:cNvPr>
          <p:cNvSpPr>
            <a:spLocks noGrp="1"/>
          </p:cNvSpPr>
          <p:nvPr>
            <p:ph type="body" idx="1"/>
          </p:nvPr>
        </p:nvSpPr>
        <p:spPr>
          <a:xfrm>
            <a:off x="1103312" y="2052918"/>
            <a:ext cx="8946541" cy="4195481"/>
          </a:xfrm>
        </p:spPr>
        <p:txBody>
          <a:bodyPr vert="horz" lIns="91440" tIns="45720" rIns="91440" bIns="45720" rtlCol="0">
            <a:normAutofit/>
          </a:bodyPr>
          <a:lstStyle/>
          <a:p>
            <a:r>
              <a:rPr lang="en-US"/>
              <a:t>Thyroid nodules are common and require accurate classification to discern malignancy. Deep learning offers a promising solution by analyzing ultrasound images.</a:t>
            </a:r>
          </a:p>
          <a:p>
            <a:r>
              <a:rPr lang="en-US"/>
              <a:t>They are typically diagnosed through a combination of physical examination, blood tests, and imaging tests such as ultrasound, CT scan, or MRI. Fine-needle aspiration biopsy may be performed to determine if a nodule is benign or malignant. Accurate detection and characterization of thyroid nodules is crucial for identifying potential thyroid cancer and guiding appropriate treatment.</a:t>
            </a:r>
          </a:p>
        </p:txBody>
      </p:sp>
    </p:spTree>
    <p:extLst>
      <p:ext uri="{BB962C8B-B14F-4D97-AF65-F5344CB8AC3E}">
        <p14:creationId xmlns:p14="http://schemas.microsoft.com/office/powerpoint/2010/main" val="3015357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7" name="Picture 56">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9" name="Oval 58">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61" name="Picture 60">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63" name="Picture 62">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5" name="Rectangle 64">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E05642C-2F5D-4B24-83E6-96B8FC5D77D8}"/>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Aim and objective</a:t>
            </a:r>
          </a:p>
        </p:txBody>
      </p:sp>
      <p:graphicFrame>
        <p:nvGraphicFramePr>
          <p:cNvPr id="51" name="Text Placeholder 2">
            <a:extLst>
              <a:ext uri="{FF2B5EF4-FFF2-40B4-BE49-F238E27FC236}">
                <a16:creationId xmlns:a16="http://schemas.microsoft.com/office/drawing/2014/main" id="{B0C100E2-293E-9D3D-1AF2-2E5E0FECCFFB}"/>
              </a:ext>
            </a:extLst>
          </p:cNvPr>
          <p:cNvGraphicFramePr/>
          <p:nvPr>
            <p:extLst>
              <p:ext uri="{D42A27DB-BD31-4B8C-83A1-F6EECF244321}">
                <p14:modId xmlns:p14="http://schemas.microsoft.com/office/powerpoint/2010/main" val="3689161485"/>
              </p:ext>
            </p:extLst>
          </p:nvPr>
        </p:nvGraphicFramePr>
        <p:xfrm>
          <a:off x="646111" y="2140085"/>
          <a:ext cx="9404352" cy="40564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36354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9" name="Picture 38">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4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3" name="Picture 42">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5" name="Picture 4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7" name="Rectangle 46">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2" name="Picture 4" descr="Many question marks on black background">
            <a:extLst>
              <a:ext uri="{FF2B5EF4-FFF2-40B4-BE49-F238E27FC236}">
                <a16:creationId xmlns:a16="http://schemas.microsoft.com/office/drawing/2014/main" id="{2B9A110D-F71D-F5E7-89B4-42F1F4F5F554}"/>
              </a:ext>
            </a:extLst>
          </p:cNvPr>
          <p:cNvPicPr>
            <a:picLocks noChangeAspect="1"/>
          </p:cNvPicPr>
          <p:nvPr/>
        </p:nvPicPr>
        <p:blipFill rotWithShape="1">
          <a:blip r:embed="rId7">
            <a:alphaModFix amt="35000"/>
          </a:blip>
          <a:srcRect t="7787"/>
          <a:stretch/>
        </p:blipFill>
        <p:spPr>
          <a:xfrm>
            <a:off x="20" y="-1"/>
            <a:ext cx="12191980" cy="6858000"/>
          </a:xfrm>
          <a:prstGeom prst="rect">
            <a:avLst/>
          </a:prstGeom>
        </p:spPr>
      </p:pic>
      <p:sp>
        <p:nvSpPr>
          <p:cNvPr id="2" name="Title 1">
            <a:extLst>
              <a:ext uri="{FF2B5EF4-FFF2-40B4-BE49-F238E27FC236}">
                <a16:creationId xmlns:a16="http://schemas.microsoft.com/office/drawing/2014/main" id="{FD1BF705-74F4-4F62-AACF-30EE05ED4AE0}"/>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Problem Statements:</a:t>
            </a:r>
          </a:p>
        </p:txBody>
      </p:sp>
      <p:sp>
        <p:nvSpPr>
          <p:cNvPr id="49" name="Rectangle 48">
            <a:extLst>
              <a:ext uri="{FF2B5EF4-FFF2-40B4-BE49-F238E27FC236}">
                <a16:creationId xmlns:a16="http://schemas.microsoft.com/office/drawing/2014/main" id="{0D187C4E-14B9-4504-B200-5127823FA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 Placeholder 2">
            <a:extLst>
              <a:ext uri="{FF2B5EF4-FFF2-40B4-BE49-F238E27FC236}">
                <a16:creationId xmlns:a16="http://schemas.microsoft.com/office/drawing/2014/main" id="{106DC038-0EFD-41EE-ABA2-69A9C0F66DDD}"/>
              </a:ext>
            </a:extLst>
          </p:cNvPr>
          <p:cNvSpPr>
            <a:spLocks noGrp="1"/>
          </p:cNvSpPr>
          <p:nvPr>
            <p:ph type="body" idx="1"/>
          </p:nvPr>
        </p:nvSpPr>
        <p:spPr>
          <a:xfrm>
            <a:off x="1103312" y="2052918"/>
            <a:ext cx="8946541" cy="4195481"/>
          </a:xfrm>
        </p:spPr>
        <p:txBody>
          <a:bodyPr vert="horz" lIns="91440" tIns="45720" rIns="91440" bIns="45720" rtlCol="0">
            <a:normAutofit/>
          </a:bodyPr>
          <a:lstStyle/>
          <a:p>
            <a:pPr marL="0" indent="0"/>
            <a:r>
              <a:rPr lang="en-US" dirty="0"/>
              <a:t>After reviewing the provided dataset on hypothyroidism, several problem statements can be identified for further analysis and research:</a:t>
            </a:r>
          </a:p>
          <a:p>
            <a:r>
              <a:rPr lang="en-US" dirty="0"/>
              <a:t>Limited availability of labeled data for training robust RNN models.</a:t>
            </a:r>
          </a:p>
          <a:p>
            <a:r>
              <a:rPr lang="en-US" dirty="0"/>
              <a:t>Challenges in capturing temporal dynamics and longitudinal analysis with RNN architectures.</a:t>
            </a:r>
          </a:p>
          <a:p>
            <a:r>
              <a:rPr lang="en-US" dirty="0"/>
              <a:t>Integration of RNN-based systems into clinical workflows and existing healthcare infrastructure.</a:t>
            </a:r>
          </a:p>
          <a:p>
            <a:endParaRPr lang="en-US" dirty="0"/>
          </a:p>
        </p:txBody>
      </p:sp>
    </p:spTree>
    <p:extLst>
      <p:ext uri="{BB962C8B-B14F-4D97-AF65-F5344CB8AC3E}">
        <p14:creationId xmlns:p14="http://schemas.microsoft.com/office/powerpoint/2010/main" val="933871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D0599401-CEDD-4F03-AA13-2F0F2042DA9E}"/>
              </a:ext>
            </a:extLst>
          </p:cNvPr>
          <p:cNvSpPr>
            <a:spLocks noGrp="1"/>
          </p:cNvSpPr>
          <p:nvPr>
            <p:ph type="title"/>
          </p:nvPr>
        </p:nvSpPr>
        <p:spPr>
          <a:xfrm>
            <a:off x="648930" y="629266"/>
            <a:ext cx="4795482" cy="1641987"/>
          </a:xfrm>
        </p:spPr>
        <p:txBody>
          <a:bodyPr vert="horz" lIns="91440" tIns="45720" rIns="91440" bIns="45720" rtlCol="0" anchor="t">
            <a:normAutofit/>
          </a:bodyPr>
          <a:lstStyle/>
          <a:p>
            <a:r>
              <a:rPr lang="en-US" dirty="0"/>
              <a:t>Subject Area</a:t>
            </a:r>
          </a:p>
        </p:txBody>
      </p:sp>
      <p:pic>
        <p:nvPicPr>
          <p:cNvPr id="5" name="Picture 4">
            <a:extLst>
              <a:ext uri="{FF2B5EF4-FFF2-40B4-BE49-F238E27FC236}">
                <a16:creationId xmlns:a16="http://schemas.microsoft.com/office/drawing/2014/main" id="{9BAC3F8C-B4E0-4749-8B4E-40BC34CB6F75}"/>
              </a:ext>
            </a:extLst>
          </p:cNvPr>
          <p:cNvPicPr>
            <a:picLocks noChangeAspect="1"/>
          </p:cNvPicPr>
          <p:nvPr/>
        </p:nvPicPr>
        <p:blipFill rotWithShape="1">
          <a:blip r:embed="rId7">
            <a:extLst>
              <a:ext uri="{28A0092B-C50C-407E-A947-70E740481C1C}">
                <a14:useLocalDpi xmlns:a14="http://schemas.microsoft.com/office/drawing/2010/main" val="0"/>
              </a:ext>
            </a:extLst>
          </a:blip>
          <a:srcRect r="-14" b="1645"/>
          <a:stretch/>
        </p:blipFill>
        <p:spPr>
          <a:xfrm>
            <a:off x="6094410" y="609601"/>
            <a:ext cx="5449889" cy="5638797"/>
          </a:xfrm>
          <a:prstGeom prst="rect">
            <a:avLst/>
          </a:prstGeom>
          <a:effectLst>
            <a:outerShdw blurRad="50800" dist="38100" dir="5400000" algn="t" rotWithShape="0">
              <a:prstClr val="black">
                <a:alpha val="43000"/>
              </a:prstClr>
            </a:outerShdw>
          </a:effectLst>
        </p:spPr>
      </p:pic>
      <p:sp>
        <p:nvSpPr>
          <p:cNvPr id="22" name="Rectangle 21">
            <a:extLst>
              <a:ext uri="{FF2B5EF4-FFF2-40B4-BE49-F238E27FC236}">
                <a16:creationId xmlns:a16="http://schemas.microsoft.com/office/drawing/2014/main" id="{AA047838-7F9E-43CF-A116-26E7AAA8F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 Placeholder 2">
            <a:extLst>
              <a:ext uri="{FF2B5EF4-FFF2-40B4-BE49-F238E27FC236}">
                <a16:creationId xmlns:a16="http://schemas.microsoft.com/office/drawing/2014/main" id="{38B7989C-FBE8-44EC-8F19-364944A81B05}"/>
              </a:ext>
            </a:extLst>
          </p:cNvPr>
          <p:cNvSpPr>
            <a:spLocks noGrp="1"/>
          </p:cNvSpPr>
          <p:nvPr>
            <p:ph type="body" idx="1"/>
          </p:nvPr>
        </p:nvSpPr>
        <p:spPr>
          <a:xfrm>
            <a:off x="647701" y="2438401"/>
            <a:ext cx="4797256" cy="3809998"/>
          </a:xfrm>
        </p:spPr>
        <p:txBody>
          <a:bodyPr vert="horz" lIns="91440" tIns="45720" rIns="91440" bIns="45720" rtlCol="0">
            <a:noAutofit/>
          </a:bodyPr>
          <a:lstStyle/>
          <a:p>
            <a:pPr>
              <a:lnSpc>
                <a:spcPct val="90000"/>
              </a:lnSpc>
            </a:pPr>
            <a:r>
              <a:rPr lang="en-US" sz="1400" dirty="0"/>
              <a:t>Broadly this project comes under the discipline of Medical Imaging and deep learning.</a:t>
            </a:r>
          </a:p>
          <a:p>
            <a:pPr>
              <a:lnSpc>
                <a:spcPct val="90000"/>
              </a:lnSpc>
            </a:pPr>
            <a:endParaRPr lang="en-US" sz="1400" dirty="0"/>
          </a:p>
          <a:p>
            <a:pPr>
              <a:lnSpc>
                <a:spcPct val="90000"/>
              </a:lnSpc>
            </a:pPr>
            <a:r>
              <a:rPr lang="en-US" sz="1400" dirty="0"/>
              <a:t>The integration of deep learning with medical imaging enables the development of more accurate and efficient methods for thyroid detection, aiding in early diagnosis and treatment planning.</a:t>
            </a:r>
          </a:p>
        </p:txBody>
      </p:sp>
    </p:spTree>
    <p:extLst>
      <p:ext uri="{BB962C8B-B14F-4D97-AF65-F5344CB8AC3E}">
        <p14:creationId xmlns:p14="http://schemas.microsoft.com/office/powerpoint/2010/main" val="2299991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F5A4-18F7-4218-8567-EA2D1F695176}"/>
              </a:ext>
            </a:extLst>
          </p:cNvPr>
          <p:cNvSpPr>
            <a:spLocks noGrp="1"/>
          </p:cNvSpPr>
          <p:nvPr>
            <p:ph type="title"/>
          </p:nvPr>
        </p:nvSpPr>
        <p:spPr>
          <a:xfrm>
            <a:off x="648930" y="629266"/>
            <a:ext cx="6188190" cy="1622321"/>
          </a:xfrm>
        </p:spPr>
        <p:txBody>
          <a:bodyPr vert="horz" lIns="91440" tIns="45720" rIns="91440" bIns="45720" rtlCol="0" anchor="t">
            <a:normAutofit/>
          </a:bodyPr>
          <a:lstStyle/>
          <a:p>
            <a:r>
              <a:rPr lang="en-US" dirty="0">
                <a:solidFill>
                  <a:srgbClr val="EBEBEB"/>
                </a:solidFill>
              </a:rPr>
              <a:t>Project Goals</a:t>
            </a:r>
          </a:p>
        </p:txBody>
      </p:sp>
      <p:sp>
        <p:nvSpPr>
          <p:cNvPr id="3" name="Text Placeholder 2">
            <a:extLst>
              <a:ext uri="{FF2B5EF4-FFF2-40B4-BE49-F238E27FC236}">
                <a16:creationId xmlns:a16="http://schemas.microsoft.com/office/drawing/2014/main" id="{8A01E495-BD19-4BC9-BB1C-3C884BE5B03C}"/>
              </a:ext>
            </a:extLst>
          </p:cNvPr>
          <p:cNvSpPr>
            <a:spLocks noGrp="1"/>
          </p:cNvSpPr>
          <p:nvPr>
            <p:ph type="body" idx="1"/>
          </p:nvPr>
        </p:nvSpPr>
        <p:spPr>
          <a:xfrm>
            <a:off x="648930" y="2438400"/>
            <a:ext cx="6188189" cy="3785419"/>
          </a:xfrm>
        </p:spPr>
        <p:txBody>
          <a:bodyPr vert="horz" lIns="91440" tIns="45720" rIns="91440" bIns="45720" rtlCol="0">
            <a:normAutofit fontScale="92500" lnSpcReduction="10000"/>
          </a:bodyPr>
          <a:lstStyle/>
          <a:p>
            <a:r>
              <a:rPr lang="en-GB" dirty="0">
                <a:solidFill>
                  <a:srgbClr val="FFFFFF"/>
                </a:solidFill>
              </a:rPr>
              <a:t>The primary goal of this project is to leverage RNNs to develop a robust model for the detection and classification of thyroid nodules based on medical imaging data, particularly ultrasound images. </a:t>
            </a:r>
          </a:p>
          <a:p>
            <a:r>
              <a:rPr lang="en-GB" dirty="0">
                <a:solidFill>
                  <a:srgbClr val="FFFFFF"/>
                </a:solidFill>
              </a:rPr>
              <a:t>Additionally, the project aims to explore the efficacy of RNNs compared to other deep learning architectures and traditional machine learning methods. </a:t>
            </a:r>
          </a:p>
          <a:p>
            <a:r>
              <a:rPr lang="en-GB" dirty="0">
                <a:solidFill>
                  <a:srgbClr val="FFFFFF"/>
                </a:solidFill>
              </a:rPr>
              <a:t>Secondary goals include evaluating model performance, optimizing hyperparameters, and creating a user-friendly interface for clinical integration.</a:t>
            </a:r>
            <a:endParaRPr lang="en-US" dirty="0">
              <a:solidFill>
                <a:srgbClr val="FFFFFF"/>
              </a:solidFill>
            </a:endParaRPr>
          </a:p>
        </p:txBody>
      </p:sp>
      <p:pic>
        <p:nvPicPr>
          <p:cNvPr id="5" name="Picture 4" descr="White bulbs with a yellow one standing out">
            <a:extLst>
              <a:ext uri="{FF2B5EF4-FFF2-40B4-BE49-F238E27FC236}">
                <a16:creationId xmlns:a16="http://schemas.microsoft.com/office/drawing/2014/main" id="{CAA4F8F2-320B-4816-EC53-6B2B696CBB45}"/>
              </a:ext>
            </a:extLst>
          </p:cNvPr>
          <p:cNvPicPr>
            <a:picLocks noChangeAspect="1"/>
          </p:cNvPicPr>
          <p:nvPr/>
        </p:nvPicPr>
        <p:blipFill rotWithShape="1">
          <a:blip r:embed="rId3"/>
          <a:srcRect l="17912" r="33779" b="-2"/>
          <a:stretch/>
        </p:blipFill>
        <p:spPr>
          <a:xfrm>
            <a:off x="7228755" y="0"/>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465368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8"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1567EB53-2BFC-4B2C-85D1-C32F0DE8B14A}"/>
              </a:ext>
            </a:extLst>
          </p:cNvPr>
          <p:cNvSpPr>
            <a:spLocks noGrp="1"/>
          </p:cNvSpPr>
          <p:nvPr>
            <p:ph type="title"/>
          </p:nvPr>
        </p:nvSpPr>
        <p:spPr>
          <a:xfrm>
            <a:off x="806195" y="804672"/>
            <a:ext cx="3521359" cy="5248656"/>
          </a:xfrm>
        </p:spPr>
        <p:txBody>
          <a:bodyPr vert="horz" lIns="91440" tIns="45720" rIns="91440" bIns="45720" rtlCol="0" anchor="ctr">
            <a:normAutofit/>
          </a:bodyPr>
          <a:lstStyle/>
          <a:p>
            <a:pPr algn="ctr"/>
            <a:r>
              <a:rPr lang="en-US" b="0" i="0" kern="1200" dirty="0">
                <a:solidFill>
                  <a:schemeClr val="tx2"/>
                </a:solidFill>
                <a:latin typeface="+mj-lt"/>
                <a:ea typeface="+mj-ea"/>
                <a:cs typeface="+mj-cs"/>
              </a:rPr>
              <a:t>Related Studies:</a:t>
            </a:r>
            <a:br>
              <a:rPr lang="en-US" b="0" i="0" kern="1200" dirty="0">
                <a:solidFill>
                  <a:schemeClr val="tx2"/>
                </a:solidFill>
                <a:latin typeface="+mj-lt"/>
                <a:ea typeface="+mj-ea"/>
                <a:cs typeface="+mj-cs"/>
              </a:rPr>
            </a:br>
            <a:endParaRPr lang="en-US" b="0" i="0" kern="1200" dirty="0">
              <a:solidFill>
                <a:schemeClr val="tx2"/>
              </a:solidFill>
              <a:latin typeface="+mj-lt"/>
              <a:ea typeface="+mj-ea"/>
              <a:cs typeface="+mj-cs"/>
            </a:endParaRPr>
          </a:p>
        </p:txBody>
      </p:sp>
      <p:sp>
        <p:nvSpPr>
          <p:cNvPr id="3" name="Text Placeholder 2">
            <a:extLst>
              <a:ext uri="{FF2B5EF4-FFF2-40B4-BE49-F238E27FC236}">
                <a16:creationId xmlns:a16="http://schemas.microsoft.com/office/drawing/2014/main" id="{32E30078-48DD-4F09-AA9E-662691125921}"/>
              </a:ext>
            </a:extLst>
          </p:cNvPr>
          <p:cNvSpPr>
            <a:spLocks noGrp="1"/>
          </p:cNvSpPr>
          <p:nvPr>
            <p:ph type="body" idx="1"/>
          </p:nvPr>
        </p:nvSpPr>
        <p:spPr>
          <a:xfrm>
            <a:off x="4975861" y="804671"/>
            <a:ext cx="6399930" cy="5248657"/>
          </a:xfrm>
        </p:spPr>
        <p:txBody>
          <a:bodyPr vert="horz" lIns="91440" tIns="45720" rIns="91440" bIns="45720" rtlCol="0" anchor="ctr">
            <a:normAutofit/>
          </a:bodyPr>
          <a:lstStyle/>
          <a:p>
            <a:r>
              <a:rPr lang="en-US" dirty="0"/>
              <a:t>Automatic Detection of Thyroid Nodule Characteristics From 2D Ultrasound Images  (Han et al., 2023).</a:t>
            </a:r>
          </a:p>
          <a:p>
            <a:r>
              <a:rPr lang="en-US" dirty="0"/>
              <a:t>Automatic thyroid nodule recognition and diagnosis in ultrasound imaging with the YOLOv2 neural network  (Wang et al., 2019).</a:t>
            </a:r>
          </a:p>
          <a:p>
            <a:r>
              <a:rPr lang="en-US" dirty="0"/>
              <a:t>Computer-aided diagnosis system of thyroid nodules Ultrasonography  (Li et al., 2020).</a:t>
            </a:r>
          </a:p>
        </p:txBody>
      </p:sp>
    </p:spTree>
    <p:extLst>
      <p:ext uri="{BB962C8B-B14F-4D97-AF65-F5344CB8AC3E}">
        <p14:creationId xmlns:p14="http://schemas.microsoft.com/office/powerpoint/2010/main" val="3226374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47AEA421-5F29-4BA7-9360-2501B5987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7">
            <a:extLst>
              <a:ext uri="{FF2B5EF4-FFF2-40B4-BE49-F238E27FC236}">
                <a16:creationId xmlns:a16="http://schemas.microsoft.com/office/drawing/2014/main" id="{9348F0CB-4904-4DEF-BDD4-ADEC2DCC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2B04342-9DCA-4516-8755-BE716415B401}"/>
              </a:ext>
            </a:extLst>
          </p:cNvPr>
          <p:cNvSpPr>
            <a:spLocks noGrp="1"/>
          </p:cNvSpPr>
          <p:nvPr>
            <p:ph type="title"/>
          </p:nvPr>
        </p:nvSpPr>
        <p:spPr>
          <a:xfrm>
            <a:off x="648930" y="629267"/>
            <a:ext cx="9252154" cy="1016654"/>
          </a:xfrm>
        </p:spPr>
        <p:txBody>
          <a:bodyPr vert="horz" lIns="91440" tIns="45720" rIns="91440" bIns="45720" rtlCol="0" anchor="t">
            <a:normAutofit/>
          </a:bodyPr>
          <a:lstStyle/>
          <a:p>
            <a:r>
              <a:rPr lang="en-US">
                <a:solidFill>
                  <a:srgbClr val="EBEBEB"/>
                </a:solidFill>
              </a:rPr>
              <a:t>Research Gaps</a:t>
            </a:r>
          </a:p>
        </p:txBody>
      </p:sp>
      <p:sp>
        <p:nvSpPr>
          <p:cNvPr id="26" name="Rectangle 25">
            <a:extLst>
              <a:ext uri="{FF2B5EF4-FFF2-40B4-BE49-F238E27FC236}">
                <a16:creationId xmlns:a16="http://schemas.microsoft.com/office/drawing/2014/main" id="{1583E1B8-79B3-49BB-8704-58E4AB1A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8" name="Freeform: Shape 27">
            <a:extLst>
              <a:ext uri="{FF2B5EF4-FFF2-40B4-BE49-F238E27FC236}">
                <a16:creationId xmlns:a16="http://schemas.microsoft.com/office/drawing/2014/main" id="{7BB34D5F-2B87-438E-8236-69C6068D4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5" name="Text Placeholder 2">
            <a:extLst>
              <a:ext uri="{FF2B5EF4-FFF2-40B4-BE49-F238E27FC236}">
                <a16:creationId xmlns:a16="http://schemas.microsoft.com/office/drawing/2014/main" id="{801C3DFD-8A19-C770-5A6A-09D320C6B786}"/>
              </a:ext>
            </a:extLst>
          </p:cNvPr>
          <p:cNvGraphicFramePr/>
          <p:nvPr>
            <p:extLst>
              <p:ext uri="{D42A27DB-BD31-4B8C-83A1-F6EECF244321}">
                <p14:modId xmlns:p14="http://schemas.microsoft.com/office/powerpoint/2010/main" val="4014886251"/>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830532759"/>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6" name="Picture 3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8" name="Oval 3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0" name="Picture 3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2" name="Picture 4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4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46" name="Rectangle 45">
            <a:extLst>
              <a:ext uri="{FF2B5EF4-FFF2-40B4-BE49-F238E27FC236}">
                <a16:creationId xmlns:a16="http://schemas.microsoft.com/office/drawing/2014/main" id="{29787B81-C7DF-412B-A405-EF4454012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4" descr="A colorful squares and lines&#10;&#10;Description automatically generated">
            <a:extLst>
              <a:ext uri="{FF2B5EF4-FFF2-40B4-BE49-F238E27FC236}">
                <a16:creationId xmlns:a16="http://schemas.microsoft.com/office/drawing/2014/main" id="{C2BA0F05-CE6C-4FCE-C234-4DAE6E9DFC9E}"/>
              </a:ext>
            </a:extLst>
          </p:cNvPr>
          <p:cNvPicPr>
            <a:picLocks noChangeAspect="1"/>
          </p:cNvPicPr>
          <p:nvPr/>
        </p:nvPicPr>
        <p:blipFill rotWithShape="1">
          <a:blip r:embed="rId6">
            <a:alphaModFix amt="35000"/>
          </a:blip>
          <a:srcRect t="20495"/>
          <a:stretch/>
        </p:blipFill>
        <p:spPr>
          <a:xfrm>
            <a:off x="20" y="-1"/>
            <a:ext cx="12191980" cy="6858000"/>
          </a:xfrm>
          <a:prstGeom prst="rect">
            <a:avLst/>
          </a:prstGeom>
        </p:spPr>
      </p:pic>
      <p:sp>
        <p:nvSpPr>
          <p:cNvPr id="2" name="Title 1">
            <a:extLst>
              <a:ext uri="{FF2B5EF4-FFF2-40B4-BE49-F238E27FC236}">
                <a16:creationId xmlns:a16="http://schemas.microsoft.com/office/drawing/2014/main" id="{56FACD6B-74DB-4617-AC0E-2E2749B7B680}"/>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Why Deep Learning?</a:t>
            </a:r>
          </a:p>
        </p:txBody>
      </p:sp>
      <p:sp>
        <p:nvSpPr>
          <p:cNvPr id="3" name="Text Placeholder 2">
            <a:extLst>
              <a:ext uri="{FF2B5EF4-FFF2-40B4-BE49-F238E27FC236}">
                <a16:creationId xmlns:a16="http://schemas.microsoft.com/office/drawing/2014/main" id="{D30DF80C-1967-47BE-828B-C6BC919670C5}"/>
              </a:ext>
            </a:extLst>
          </p:cNvPr>
          <p:cNvSpPr>
            <a:spLocks noGrp="1"/>
          </p:cNvSpPr>
          <p:nvPr>
            <p:ph type="body" idx="1"/>
          </p:nvPr>
        </p:nvSpPr>
        <p:spPr>
          <a:xfrm>
            <a:off x="1103312" y="2052918"/>
            <a:ext cx="8946541" cy="4195481"/>
          </a:xfrm>
        </p:spPr>
        <p:txBody>
          <a:bodyPr vert="horz" lIns="91440" tIns="45720" rIns="91440" bIns="45720" rtlCol="0">
            <a:normAutofit/>
          </a:bodyPr>
          <a:lstStyle/>
          <a:p>
            <a:r>
              <a:rPr lang="en-US" dirty="0"/>
              <a:t>Deep learning is chosen for its ability to automatically learn intricate patterns from large datasets, its capability to handle diverse data types including images, text, and audio, its achievement of state-of-the-art performance in various tasks such as image recognition and natural language processing, its scalability to handle large-scale problems with advances in hardware and software frameworks, and its continual advancements driving innovation and applications across industries.</a:t>
            </a:r>
          </a:p>
        </p:txBody>
      </p:sp>
    </p:spTree>
    <p:extLst>
      <p:ext uri="{BB962C8B-B14F-4D97-AF65-F5344CB8AC3E}">
        <p14:creationId xmlns:p14="http://schemas.microsoft.com/office/powerpoint/2010/main" val="2599054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3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4" name="Picture 3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6" name="Picture 3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8" name="Rectangle 3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40" name="Rectangle 39">
            <a:extLst>
              <a:ext uri="{FF2B5EF4-FFF2-40B4-BE49-F238E27FC236}">
                <a16:creationId xmlns:a16="http://schemas.microsoft.com/office/drawing/2014/main" id="{29787B81-C7DF-412B-A405-EF4454012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andelenmarktgetallen">
            <a:extLst>
              <a:ext uri="{FF2B5EF4-FFF2-40B4-BE49-F238E27FC236}">
                <a16:creationId xmlns:a16="http://schemas.microsoft.com/office/drawing/2014/main" id="{12FACDBB-3543-FD2B-F0AF-E646D73481BA}"/>
              </a:ext>
            </a:extLst>
          </p:cNvPr>
          <p:cNvPicPr>
            <a:picLocks noChangeAspect="1"/>
          </p:cNvPicPr>
          <p:nvPr/>
        </p:nvPicPr>
        <p:blipFill rotWithShape="1">
          <a:blip r:embed="rId6">
            <a:alphaModFix amt="35000"/>
          </a:blip>
          <a:srcRect t="1390" b="14340"/>
          <a:stretch/>
        </p:blipFill>
        <p:spPr>
          <a:xfrm>
            <a:off x="20" y="-1"/>
            <a:ext cx="12191980" cy="6858000"/>
          </a:xfrm>
          <a:prstGeom prst="rect">
            <a:avLst/>
          </a:prstGeom>
        </p:spPr>
      </p:pic>
      <p:sp>
        <p:nvSpPr>
          <p:cNvPr id="2" name="Title 1">
            <a:extLst>
              <a:ext uri="{FF2B5EF4-FFF2-40B4-BE49-F238E27FC236}">
                <a16:creationId xmlns:a16="http://schemas.microsoft.com/office/drawing/2014/main" id="{589C2040-A5A9-420D-AAB5-7F9082FFFA66}"/>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Dataset</a:t>
            </a:r>
          </a:p>
        </p:txBody>
      </p:sp>
      <p:sp>
        <p:nvSpPr>
          <p:cNvPr id="3" name="Text Placeholder 2">
            <a:extLst>
              <a:ext uri="{FF2B5EF4-FFF2-40B4-BE49-F238E27FC236}">
                <a16:creationId xmlns:a16="http://schemas.microsoft.com/office/drawing/2014/main" id="{20212A78-07B7-4827-80B7-EF8DF4C6704E}"/>
              </a:ext>
            </a:extLst>
          </p:cNvPr>
          <p:cNvSpPr>
            <a:spLocks noGrp="1"/>
          </p:cNvSpPr>
          <p:nvPr>
            <p:ph type="body" idx="1"/>
          </p:nvPr>
        </p:nvSpPr>
        <p:spPr>
          <a:xfrm>
            <a:off x="965639" y="1837289"/>
            <a:ext cx="8946541" cy="3947605"/>
          </a:xfrm>
        </p:spPr>
        <p:txBody>
          <a:bodyPr vert="horz" lIns="91440" tIns="45720" rIns="91440" bIns="45720" rtlCol="0">
            <a:noAutofit/>
          </a:bodyPr>
          <a:lstStyle/>
          <a:p>
            <a:pPr>
              <a:lnSpc>
                <a:spcPct val="90000"/>
              </a:lnSpc>
            </a:pPr>
            <a:r>
              <a:rPr lang="en-US" sz="2400" dirty="0">
                <a:latin typeface="Arial" panose="020B0604020202020204" pitchFamily="34" charset="0"/>
                <a:cs typeface="Arial" panose="020B0604020202020204" pitchFamily="34" charset="0"/>
              </a:rPr>
              <a:t>- Dataset "hypothyroid disseration.csv" contains attributes including age, sex, medication status, and thyroid hormone levels.</a:t>
            </a:r>
          </a:p>
          <a:p>
            <a:pPr>
              <a:lnSpc>
                <a:spcPct val="90000"/>
              </a:lnSpc>
            </a:pPr>
            <a:r>
              <a:rPr lang="en-US" sz="2400" dirty="0">
                <a:latin typeface="Arial" panose="020B0604020202020204" pitchFamily="34" charset="0"/>
                <a:cs typeface="Arial" panose="020B0604020202020204" pitchFamily="34" charset="0"/>
              </a:rPr>
              <a:t>- It offers binary classification for hypothyroid or non-hypothyroid status and presents patient-specific information.</a:t>
            </a:r>
          </a:p>
          <a:p>
            <a:pPr>
              <a:lnSpc>
                <a:spcPct val="90000"/>
              </a:lnSpc>
            </a:pPr>
            <a:r>
              <a:rPr lang="en-US" sz="2400" dirty="0">
                <a:latin typeface="Arial" panose="020B0604020202020204" pitchFamily="34" charset="0"/>
                <a:cs typeface="Arial" panose="020B0604020202020204" pitchFamily="34" charset="0"/>
              </a:rPr>
              <a:t>- The dataset's variability provides valuable insights for researching hypothyroidism, aiding in predictive modeling and diagnostic tool development.</a:t>
            </a:r>
          </a:p>
        </p:txBody>
      </p:sp>
    </p:spTree>
    <p:extLst>
      <p:ext uri="{BB962C8B-B14F-4D97-AF65-F5344CB8AC3E}">
        <p14:creationId xmlns:p14="http://schemas.microsoft.com/office/powerpoint/2010/main" val="281955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9" name="Picture 28">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1" name="Oval 3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3" name="Picture 32">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7" name="Rectangle 36">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9" name="Rectangle 3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83CFE1-CA35-46FC-B900-12E9526C7053}"/>
              </a:ext>
            </a:extLst>
          </p:cNvPr>
          <p:cNvSpPr>
            <a:spLocks noGrp="1"/>
          </p:cNvSpPr>
          <p:nvPr>
            <p:ph type="title"/>
          </p:nvPr>
        </p:nvSpPr>
        <p:spPr>
          <a:xfrm>
            <a:off x="648930" y="629266"/>
            <a:ext cx="6188190" cy="1622321"/>
          </a:xfrm>
        </p:spPr>
        <p:txBody>
          <a:bodyPr vert="horz" lIns="91440" tIns="45720" rIns="91440" bIns="45720" rtlCol="0" anchor="t">
            <a:normAutofit/>
          </a:bodyPr>
          <a:lstStyle/>
          <a:p>
            <a:r>
              <a:rPr lang="en-US" dirty="0">
                <a:solidFill>
                  <a:srgbClr val="EBEBEB"/>
                </a:solidFill>
              </a:rPr>
              <a:t>Methodology</a:t>
            </a:r>
          </a:p>
        </p:txBody>
      </p:sp>
      <p:sp>
        <p:nvSpPr>
          <p:cNvPr id="3" name="Text Placeholder 2">
            <a:extLst>
              <a:ext uri="{FF2B5EF4-FFF2-40B4-BE49-F238E27FC236}">
                <a16:creationId xmlns:a16="http://schemas.microsoft.com/office/drawing/2014/main" id="{CCABA7AE-1B89-4824-A3D2-C58D2DA93513}"/>
              </a:ext>
            </a:extLst>
          </p:cNvPr>
          <p:cNvSpPr>
            <a:spLocks noGrp="1"/>
          </p:cNvSpPr>
          <p:nvPr>
            <p:ph type="body" idx="1"/>
          </p:nvPr>
        </p:nvSpPr>
        <p:spPr>
          <a:xfrm>
            <a:off x="379986" y="1600200"/>
            <a:ext cx="6188189" cy="4623619"/>
          </a:xfrm>
        </p:spPr>
        <p:txBody>
          <a:bodyPr vert="horz" lIns="91440" tIns="45720" rIns="91440" bIns="45720" rtlCol="0">
            <a:normAutofit/>
          </a:bodyPr>
          <a:lstStyle/>
          <a:p>
            <a:pPr>
              <a:lnSpc>
                <a:spcPct val="90000"/>
              </a:lnSpc>
            </a:pPr>
            <a:r>
              <a:rPr lang="en-US" sz="1600" dirty="0">
                <a:solidFill>
                  <a:srgbClr val="FFFFFF"/>
                </a:solidFill>
              </a:rPr>
              <a:t>The dataset provided contains information related to thyroid conditions, but it does not specify the RNN architecture for analysis. When choosing an RNN architecture for analyzing sequential data like this, considering the nature of the data and task complexity is crucial. </a:t>
            </a:r>
          </a:p>
          <a:p>
            <a:pPr>
              <a:lnSpc>
                <a:spcPct val="90000"/>
              </a:lnSpc>
            </a:pPr>
            <a:endParaRPr lang="en-US" sz="1600" dirty="0">
              <a:solidFill>
                <a:srgbClr val="FFFFFF"/>
              </a:solidFill>
            </a:endParaRPr>
          </a:p>
          <a:p>
            <a:pPr>
              <a:lnSpc>
                <a:spcPct val="90000"/>
              </a:lnSpc>
            </a:pPr>
            <a:r>
              <a:rPr lang="en-US" sz="1600" b="1" dirty="0">
                <a:solidFill>
                  <a:srgbClr val="FFFFFF"/>
                </a:solidFill>
              </a:rPr>
              <a:t>Model Architecture</a:t>
            </a:r>
          </a:p>
          <a:p>
            <a:pPr marL="0" indent="0">
              <a:lnSpc>
                <a:spcPct val="90000"/>
              </a:lnSpc>
              <a:buNone/>
            </a:pPr>
            <a:r>
              <a:rPr lang="en-US" sz="1600" dirty="0">
                <a:solidFill>
                  <a:srgbClr val="FFFFFF"/>
                </a:solidFill>
              </a:rPr>
              <a:t>Common RNN architectures suitable for this type of analysis include Long Short-Term Memory (LSTM) and Gated Recurrent Unit (GRU). LSTM is known for handling long-range dependencies well, making it suitable for sequences with long-term dependencies. On the other hand, GRU is simpler than LSTM but still effective for capturing dependencies in sequential data. Depending on the specific characteristics of the thyroid dataset and the complexity of the analysis task, either LSTM or GRU could be appropriate choices for building an RNN model</a:t>
            </a:r>
          </a:p>
          <a:p>
            <a:pPr marL="0" indent="0">
              <a:lnSpc>
                <a:spcPct val="90000"/>
              </a:lnSpc>
            </a:pPr>
            <a:endParaRPr lang="en-US" sz="1600" dirty="0">
              <a:solidFill>
                <a:srgbClr val="FFFFFF"/>
              </a:solidFill>
            </a:endParaRPr>
          </a:p>
        </p:txBody>
      </p:sp>
      <p:sp>
        <p:nvSpPr>
          <p:cNvPr id="4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9" name="Picture 8">
            <a:extLst>
              <a:ext uri="{FF2B5EF4-FFF2-40B4-BE49-F238E27FC236}">
                <a16:creationId xmlns:a16="http://schemas.microsoft.com/office/drawing/2014/main" id="{F725A6D8-6A65-460C-ADD1-7A6F9BB30A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47029" y="252640"/>
            <a:ext cx="5042516" cy="3517900"/>
          </a:xfrm>
          <a:prstGeom prst="rect">
            <a:avLst/>
          </a:prstGeom>
        </p:spPr>
      </p:pic>
    </p:spTree>
    <p:extLst>
      <p:ext uri="{BB962C8B-B14F-4D97-AF65-F5344CB8AC3E}">
        <p14:creationId xmlns:p14="http://schemas.microsoft.com/office/powerpoint/2010/main" val="12625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5" name="Picture 34">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7" name="Oval 36">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9" name="Picture 38">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1" name="Picture 40">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3" name="Rectangle 42">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5" name="Rectangle 44">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08CCB-5C8C-438E-A147-555A42185FEE}"/>
              </a:ext>
            </a:extLst>
          </p:cNvPr>
          <p:cNvSpPr>
            <a:spLocks noGrp="1"/>
          </p:cNvSpPr>
          <p:nvPr>
            <p:ph type="title"/>
          </p:nvPr>
        </p:nvSpPr>
        <p:spPr>
          <a:xfrm>
            <a:off x="648930" y="629266"/>
            <a:ext cx="5616217" cy="1622321"/>
          </a:xfrm>
        </p:spPr>
        <p:txBody>
          <a:bodyPr vert="horz" lIns="91440" tIns="45720" rIns="91440" bIns="45720" rtlCol="0" anchor="t">
            <a:normAutofit/>
          </a:bodyPr>
          <a:lstStyle/>
          <a:p>
            <a:r>
              <a:rPr lang="en-US" b="0" i="0" kern="1200">
                <a:solidFill>
                  <a:srgbClr val="EBEBEB"/>
                </a:solidFill>
                <a:latin typeface="+mj-lt"/>
                <a:ea typeface="+mj-ea"/>
                <a:cs typeface="+mj-cs"/>
              </a:rPr>
              <a:t>Model 1: Long Short-Term Memory</a:t>
            </a:r>
          </a:p>
        </p:txBody>
      </p:sp>
      <p:sp>
        <p:nvSpPr>
          <p:cNvPr id="47"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49" name="Freeform: Shape 48">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5" name="Picture 4" descr="A screenshot of a computer&#10;&#10;Description automatically generated">
            <a:extLst>
              <a:ext uri="{FF2B5EF4-FFF2-40B4-BE49-F238E27FC236}">
                <a16:creationId xmlns:a16="http://schemas.microsoft.com/office/drawing/2014/main" id="{5D1999D3-9C06-4B49-8ACC-74C3F56246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9357" y="1248295"/>
            <a:ext cx="3980139" cy="2006584"/>
          </a:xfrm>
          <a:prstGeom prst="rect">
            <a:avLst/>
          </a:prstGeom>
          <a:effectLst/>
        </p:spPr>
      </p:pic>
      <p:sp>
        <p:nvSpPr>
          <p:cNvPr id="51" name="Rectangle 50">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 Placeholder 2">
            <a:extLst>
              <a:ext uri="{FF2B5EF4-FFF2-40B4-BE49-F238E27FC236}">
                <a16:creationId xmlns:a16="http://schemas.microsoft.com/office/drawing/2014/main" id="{43712B9E-A8CA-4564-9E85-DC8798379491}"/>
              </a:ext>
            </a:extLst>
          </p:cNvPr>
          <p:cNvSpPr>
            <a:spLocks noGrp="1"/>
          </p:cNvSpPr>
          <p:nvPr>
            <p:ph type="body" idx="1"/>
          </p:nvPr>
        </p:nvSpPr>
        <p:spPr>
          <a:xfrm>
            <a:off x="648931" y="2438400"/>
            <a:ext cx="5616216" cy="3785419"/>
          </a:xfrm>
        </p:spPr>
        <p:txBody>
          <a:bodyPr vert="horz" lIns="91440" tIns="45720" rIns="91440" bIns="45720" rtlCol="0">
            <a:normAutofit/>
          </a:bodyPr>
          <a:lstStyle/>
          <a:p>
            <a:pPr>
              <a:lnSpc>
                <a:spcPct val="90000"/>
              </a:lnSpc>
            </a:pPr>
            <a:br>
              <a:rPr lang="en-US" sz="1700" dirty="0">
                <a:solidFill>
                  <a:srgbClr val="FFFFFF"/>
                </a:solidFill>
                <a:effectLst/>
              </a:rPr>
            </a:br>
            <a:r>
              <a:rPr lang="en-US" sz="1700" dirty="0">
                <a:solidFill>
                  <a:srgbClr val="FFFFFF"/>
                </a:solidFill>
                <a:effectLst/>
              </a:rPr>
              <a:t>Long Short-Term Memory (LSTM) is a type of recurrent neural network (RNN) architecture that is designed to overcome the limitations of traditional RNNs in capturing and learning long-term dependencies in sequential data. It was introduced by </a:t>
            </a:r>
            <a:r>
              <a:rPr lang="en-US" sz="1700" dirty="0" err="1">
                <a:solidFill>
                  <a:srgbClr val="FFFFFF"/>
                </a:solidFill>
                <a:effectLst/>
              </a:rPr>
              <a:t>Hochreiter</a:t>
            </a:r>
            <a:r>
              <a:rPr lang="en-US" sz="1700" dirty="0">
                <a:solidFill>
                  <a:srgbClr val="FFFFFF"/>
                </a:solidFill>
                <a:effectLst/>
              </a:rPr>
              <a:t> and </a:t>
            </a:r>
            <a:r>
              <a:rPr lang="en-US" sz="1700" dirty="0" err="1">
                <a:solidFill>
                  <a:srgbClr val="FFFFFF"/>
                </a:solidFill>
                <a:effectLst/>
              </a:rPr>
              <a:t>Schmidhuber</a:t>
            </a:r>
            <a:r>
              <a:rPr lang="en-US" sz="1700" dirty="0">
                <a:solidFill>
                  <a:srgbClr val="FFFFFF"/>
                </a:solidFill>
                <a:effectLst/>
              </a:rPr>
              <a:t> in 1997.</a:t>
            </a:r>
          </a:p>
          <a:p>
            <a:pPr>
              <a:lnSpc>
                <a:spcPct val="90000"/>
              </a:lnSpc>
            </a:pPr>
            <a:r>
              <a:rPr lang="en-US" sz="1700" dirty="0">
                <a:solidFill>
                  <a:srgbClr val="FFFFFF"/>
                </a:solidFill>
                <a:effectLst/>
              </a:rPr>
              <a:t>The key advantage of LSTM networks over traditional RNNs is their ability to effectively retain and utilize information over long sequences, making them particularly well-suited for tasks involving sequential data such as speech recognition, natural language processing, time series prediction, </a:t>
            </a:r>
          </a:p>
          <a:p>
            <a:pPr>
              <a:lnSpc>
                <a:spcPct val="90000"/>
              </a:lnSpc>
            </a:pPr>
            <a:endParaRPr lang="en-US" sz="1700" dirty="0">
              <a:solidFill>
                <a:srgbClr val="FFFFFF"/>
              </a:solidFill>
            </a:endParaRPr>
          </a:p>
        </p:txBody>
      </p:sp>
      <p:pic>
        <p:nvPicPr>
          <p:cNvPr id="7" name="Picture 6" descr="A graph with a line&#10;&#10;Description automatically generated">
            <a:extLst>
              <a:ext uri="{FF2B5EF4-FFF2-40B4-BE49-F238E27FC236}">
                <a16:creationId xmlns:a16="http://schemas.microsoft.com/office/drawing/2014/main" id="{C168F13C-71E0-4C75-B813-E265408828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9315" y="3429000"/>
            <a:ext cx="4926984" cy="3005566"/>
          </a:xfrm>
          <a:prstGeom prst="rect">
            <a:avLst/>
          </a:prstGeom>
        </p:spPr>
      </p:pic>
    </p:spTree>
    <p:extLst>
      <p:ext uri="{BB962C8B-B14F-4D97-AF65-F5344CB8AC3E}">
        <p14:creationId xmlns:p14="http://schemas.microsoft.com/office/powerpoint/2010/main" val="314090382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CA4B14-6E3F-45A1-A0ED-613E361A5EF1}"/>
              </a:ext>
            </a:extLst>
          </p:cNvPr>
          <p:cNvSpPr>
            <a:spLocks noGrp="1"/>
          </p:cNvSpPr>
          <p:nvPr>
            <p:ph type="title"/>
          </p:nvPr>
        </p:nvSpPr>
        <p:spPr>
          <a:xfrm>
            <a:off x="648930" y="629266"/>
            <a:ext cx="5616217" cy="1622321"/>
          </a:xfrm>
        </p:spPr>
        <p:txBody>
          <a:bodyPr vert="horz" lIns="91440" tIns="45720" rIns="91440" bIns="45720" rtlCol="0" anchor="t">
            <a:normAutofit/>
          </a:bodyPr>
          <a:lstStyle/>
          <a:p>
            <a:pPr>
              <a:lnSpc>
                <a:spcPct val="90000"/>
              </a:lnSpc>
            </a:pPr>
            <a:r>
              <a:rPr lang="en-US" sz="3600" b="0" i="0" kern="1200">
                <a:solidFill>
                  <a:srgbClr val="EBEBEB"/>
                </a:solidFill>
                <a:latin typeface="+mj-lt"/>
                <a:ea typeface="+mj-ea"/>
                <a:cs typeface="+mj-cs"/>
              </a:rPr>
              <a:t>Model 2: Stacked Long Term Short Memory</a:t>
            </a:r>
          </a:p>
        </p:txBody>
      </p:sp>
      <p:sp>
        <p:nvSpPr>
          <p:cNvPr id="24"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26" name="Freeform: Shape 25">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5" name="Picture 4" descr="A screenshot of a computer&#10;&#10;Description automatically generated">
            <a:extLst>
              <a:ext uri="{FF2B5EF4-FFF2-40B4-BE49-F238E27FC236}">
                <a16:creationId xmlns:a16="http://schemas.microsoft.com/office/drawing/2014/main" id="{5F9653E4-7B43-4CFD-8CB7-4A4E802035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62930" y="1141407"/>
            <a:ext cx="3980139" cy="1893837"/>
          </a:xfrm>
          <a:prstGeom prst="rect">
            <a:avLst/>
          </a:prstGeom>
          <a:effectLst/>
        </p:spPr>
      </p:pic>
      <p:sp>
        <p:nvSpPr>
          <p:cNvPr id="28" name="Rectangle 27">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 Placeholder 2">
            <a:extLst>
              <a:ext uri="{FF2B5EF4-FFF2-40B4-BE49-F238E27FC236}">
                <a16:creationId xmlns:a16="http://schemas.microsoft.com/office/drawing/2014/main" id="{B802ECEF-694E-4D92-990B-0EC4FC65FBBB}"/>
              </a:ext>
            </a:extLst>
          </p:cNvPr>
          <p:cNvSpPr>
            <a:spLocks noGrp="1"/>
          </p:cNvSpPr>
          <p:nvPr>
            <p:ph type="body" idx="1"/>
          </p:nvPr>
        </p:nvSpPr>
        <p:spPr>
          <a:xfrm>
            <a:off x="648931" y="2438400"/>
            <a:ext cx="5616216" cy="3785419"/>
          </a:xfrm>
        </p:spPr>
        <p:txBody>
          <a:bodyPr vert="horz" lIns="91440" tIns="45720" rIns="91440" bIns="45720" rtlCol="0">
            <a:normAutofit fontScale="70000" lnSpcReduction="20000"/>
          </a:bodyPr>
          <a:lstStyle/>
          <a:p>
            <a:r>
              <a:rPr lang="en-GB" dirty="0">
                <a:solidFill>
                  <a:srgbClr val="FFFFFF"/>
                </a:solidFill>
              </a:rPr>
              <a:t>Stacked Long Short-Term Memory (LSTM) is a variant of the LSTM architecture where multiple LSTM layers are stacked on top of each other. Each LSTM layer consists of multiple LSTM cells, and the output of one layer serves as the input to the next layer. Stacking LSTM layers allows for the creation of deeper neural networks, enabling the model to learn more complex hierarchical representations of the input data.</a:t>
            </a:r>
          </a:p>
          <a:p>
            <a:endParaRPr lang="en-GB" dirty="0">
              <a:solidFill>
                <a:srgbClr val="FFFFFF"/>
              </a:solidFill>
            </a:endParaRPr>
          </a:p>
          <a:p>
            <a:r>
              <a:rPr lang="en-GB" dirty="0">
                <a:solidFill>
                  <a:srgbClr val="FFFFFF"/>
                </a:solidFill>
              </a:rPr>
              <a:t>The architecture of a stacked LSTM typically follows a hierarchical structure, with each layer capturing increasingly abstract features from the input sequence. The first LSTM layer processes the raw input sequence and extracts low-level features, while subsequent layers capture higher-level representations by combining the output of the previous layer with additional context information.</a:t>
            </a:r>
            <a:endParaRPr lang="en-US" dirty="0">
              <a:solidFill>
                <a:srgbClr val="FFFFFF"/>
              </a:solidFill>
            </a:endParaRPr>
          </a:p>
        </p:txBody>
      </p:sp>
      <p:pic>
        <p:nvPicPr>
          <p:cNvPr id="7" name="Picture 6" descr="A graph with a line&#10;&#10;Description automatically generated">
            <a:extLst>
              <a:ext uri="{FF2B5EF4-FFF2-40B4-BE49-F238E27FC236}">
                <a16:creationId xmlns:a16="http://schemas.microsoft.com/office/drawing/2014/main" id="{96A1AF47-B59D-46EA-9441-B546E42D0E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22515" y="3173388"/>
            <a:ext cx="4926984" cy="3050431"/>
          </a:xfrm>
          <a:prstGeom prst="rect">
            <a:avLst/>
          </a:prstGeom>
        </p:spPr>
      </p:pic>
    </p:spTree>
    <p:extLst>
      <p:ext uri="{BB962C8B-B14F-4D97-AF65-F5344CB8AC3E}">
        <p14:creationId xmlns:p14="http://schemas.microsoft.com/office/powerpoint/2010/main" val="288246204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DCE8B842-B6B5-425B-80C9-09F891B6FF95}"/>
              </a:ext>
            </a:extLst>
          </p:cNvPr>
          <p:cNvSpPr>
            <a:spLocks noGrp="1"/>
          </p:cNvSpPr>
          <p:nvPr>
            <p:ph type="title"/>
          </p:nvPr>
        </p:nvSpPr>
        <p:spPr>
          <a:xfrm>
            <a:off x="646112" y="452718"/>
            <a:ext cx="5629222" cy="1400530"/>
          </a:xfrm>
        </p:spPr>
        <p:txBody>
          <a:bodyPr vert="horz" lIns="91440" tIns="45720" rIns="91440" bIns="45720" rtlCol="0" anchor="t">
            <a:normAutofit/>
          </a:bodyPr>
          <a:lstStyle/>
          <a:p>
            <a:r>
              <a:rPr lang="en-US"/>
              <a:t>Model 3: GRU</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 graph with a line&#10;&#10;Description automatically generated">
            <a:extLst>
              <a:ext uri="{FF2B5EF4-FFF2-40B4-BE49-F238E27FC236}">
                <a16:creationId xmlns:a16="http://schemas.microsoft.com/office/drawing/2014/main" id="{69B60005-35CA-46B8-B57F-04E31245D6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63742" y="884843"/>
            <a:ext cx="3980139" cy="2767914"/>
          </a:xfrm>
          <a:prstGeom prst="rect">
            <a:avLst/>
          </a:prstGeom>
          <a:effectLst/>
        </p:spPr>
      </p:pic>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 Placeholder 2">
            <a:extLst>
              <a:ext uri="{FF2B5EF4-FFF2-40B4-BE49-F238E27FC236}">
                <a16:creationId xmlns:a16="http://schemas.microsoft.com/office/drawing/2014/main" id="{2180ECFC-8BBB-4434-91D5-6D2A6D6D1CC6}"/>
              </a:ext>
            </a:extLst>
          </p:cNvPr>
          <p:cNvSpPr>
            <a:spLocks noGrp="1"/>
          </p:cNvSpPr>
          <p:nvPr>
            <p:ph type="body" idx="1"/>
          </p:nvPr>
        </p:nvSpPr>
        <p:spPr>
          <a:xfrm>
            <a:off x="646112" y="2052918"/>
            <a:ext cx="5628635" cy="4195481"/>
          </a:xfrm>
        </p:spPr>
        <p:txBody>
          <a:bodyPr vert="horz" lIns="91440" tIns="45720" rIns="91440" bIns="45720" rtlCol="0">
            <a:normAutofit/>
          </a:bodyPr>
          <a:lstStyle/>
          <a:p>
            <a:r>
              <a:rPr lang="en-US" dirty="0"/>
              <a:t>Gated Recurrent Unit (GRU) is another type of recurrent neural network (RNN) architecture, similar to LSTM, designed to address the vanishing gradient problem in traditional RNNs and capture long-term dependencies in sequential data. </a:t>
            </a:r>
          </a:p>
          <a:p>
            <a:r>
              <a:rPr lang="en-US" dirty="0"/>
              <a:t>Gated Recurrent Unit (GRU) is a powerful recurrent neural network architecture that addresses the limitations of traditional RNNs while offering simplicity, efficiency, and effectiveness in capturing long-term dependencies in sequential data. </a:t>
            </a:r>
          </a:p>
        </p:txBody>
      </p:sp>
      <p:pic>
        <p:nvPicPr>
          <p:cNvPr id="7" name="Picture 6" descr="A screenshot of a computer&#10;&#10;Description automatically generated">
            <a:extLst>
              <a:ext uri="{FF2B5EF4-FFF2-40B4-BE49-F238E27FC236}">
                <a16:creationId xmlns:a16="http://schemas.microsoft.com/office/drawing/2014/main" id="{54CC1015-A9EC-41DD-B72E-53074A58C9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63742" y="4209821"/>
            <a:ext cx="3980139" cy="1914597"/>
          </a:xfrm>
          <a:prstGeom prst="rect">
            <a:avLst/>
          </a:prstGeom>
          <a:effectLst/>
        </p:spPr>
      </p:pic>
    </p:spTree>
    <p:extLst>
      <p:ext uri="{BB962C8B-B14F-4D97-AF65-F5344CB8AC3E}">
        <p14:creationId xmlns:p14="http://schemas.microsoft.com/office/powerpoint/2010/main" val="1984600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1" name="Picture 25">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3" name="Picture 27">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5" name="Oval 29">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7" name="Picture 31">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8" name="Picture 33">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9" name="Rectangle 35">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0" name="Rectangle 3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 name="Rectangle 3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4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2C2CBCA8-7D5E-4F3E-87AE-1DDF4A2A1F5A}"/>
              </a:ext>
            </a:extLst>
          </p:cNvPr>
          <p:cNvSpPr>
            <a:spLocks noGrp="1"/>
          </p:cNvSpPr>
          <p:nvPr>
            <p:ph type="title"/>
          </p:nvPr>
        </p:nvSpPr>
        <p:spPr>
          <a:xfrm>
            <a:off x="806195" y="804672"/>
            <a:ext cx="3521359" cy="5248656"/>
          </a:xfrm>
        </p:spPr>
        <p:txBody>
          <a:bodyPr vert="horz" lIns="91440" tIns="45720" rIns="91440" bIns="45720" rtlCol="0" anchor="ctr">
            <a:normAutofit/>
          </a:bodyPr>
          <a:lstStyle/>
          <a:p>
            <a:pPr algn="ctr"/>
            <a:r>
              <a:rPr lang="en-US" b="0" i="0" kern="1200" dirty="0">
                <a:solidFill>
                  <a:schemeClr val="tx2"/>
                </a:solidFill>
                <a:latin typeface="+mj-lt"/>
                <a:ea typeface="+mj-ea"/>
                <a:cs typeface="+mj-cs"/>
              </a:rPr>
              <a:t>Results &amp; Analysis</a:t>
            </a:r>
          </a:p>
        </p:txBody>
      </p:sp>
      <p:sp>
        <p:nvSpPr>
          <p:cNvPr id="6" name="TextBox 5">
            <a:extLst>
              <a:ext uri="{FF2B5EF4-FFF2-40B4-BE49-F238E27FC236}">
                <a16:creationId xmlns:a16="http://schemas.microsoft.com/office/drawing/2014/main" id="{3CC7379A-184B-43A0-A3A2-389D418FA615}"/>
              </a:ext>
            </a:extLst>
          </p:cNvPr>
          <p:cNvSpPr txBox="1"/>
          <p:nvPr/>
        </p:nvSpPr>
        <p:spPr>
          <a:xfrm>
            <a:off x="4975861" y="804671"/>
            <a:ext cx="6399930" cy="5248657"/>
          </a:xfrm>
          <a:prstGeom prst="rect">
            <a:avLst/>
          </a:prstGeom>
        </p:spPr>
        <p:txBody>
          <a:bodyPr vert="horz" lIns="91440" tIns="45720" rIns="91440" bIns="45720" rtlCol="0" anchor="ctr">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This project uses RNN based models such as Vanilla LSTM, Stacked LSTM, Bi-Directional LSTM and Gated Recurrent Unit(GRU). This project has an accuracy around 92%, with Vanilla LSTM having least loss.</a:t>
            </a:r>
          </a:p>
        </p:txBody>
      </p:sp>
      <p:sp>
        <p:nvSpPr>
          <p:cNvPr id="3" name="Text Placeholder 2">
            <a:extLst>
              <a:ext uri="{FF2B5EF4-FFF2-40B4-BE49-F238E27FC236}">
                <a16:creationId xmlns:a16="http://schemas.microsoft.com/office/drawing/2014/main" id="{E9016168-7647-461C-9D2F-721F1FB8991A}"/>
              </a:ext>
            </a:extLst>
          </p:cNvPr>
          <p:cNvSpPr>
            <a:spLocks/>
          </p:cNvSpPr>
          <p:nvPr/>
        </p:nvSpPr>
        <p:spPr>
          <a:xfrm>
            <a:off x="763589" y="1264596"/>
            <a:ext cx="8417078" cy="4931923"/>
          </a:xfrm>
          <a:prstGeom prst="rect">
            <a:avLst/>
          </a:prstGeom>
        </p:spPr>
        <p:txBody>
          <a:bodyPr/>
          <a:lstStyle/>
          <a:p>
            <a:pPr defTabSz="379476">
              <a:spcAft>
                <a:spcPts val="600"/>
              </a:spcAft>
            </a:pPr>
            <a:endParaRPr lang="en-US"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defTabSz="379476">
              <a:spcAft>
                <a:spcPts val="600"/>
              </a:spcAft>
            </a:pPr>
            <a:endParaRPr lang="en-GB" sz="1494" kern="1200" dirty="0">
              <a:solidFill>
                <a:schemeClr val="tx1"/>
              </a:solidFill>
              <a:latin typeface="+mn-lt"/>
              <a:ea typeface="+mn-ea"/>
              <a:cs typeface="+mn-cs"/>
            </a:endParaRPr>
          </a:p>
          <a:p>
            <a:pPr marL="0" indent="0">
              <a:spcAft>
                <a:spcPts val="600"/>
              </a:spcAft>
              <a:buNone/>
            </a:pPr>
            <a:endParaRPr lang="en-GB" dirty="0"/>
          </a:p>
        </p:txBody>
      </p:sp>
    </p:spTree>
    <p:extLst>
      <p:ext uri="{BB962C8B-B14F-4D97-AF65-F5344CB8AC3E}">
        <p14:creationId xmlns:p14="http://schemas.microsoft.com/office/powerpoint/2010/main" val="3425105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6"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7"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8"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9"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0"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1"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42" name="Rectangle 21">
            <a:extLst>
              <a:ext uri="{FF2B5EF4-FFF2-40B4-BE49-F238E27FC236}">
                <a16:creationId xmlns:a16="http://schemas.microsoft.com/office/drawing/2014/main" id="{29787B81-C7DF-412B-A405-EF4454012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an of a human brain in a neurology clinic">
            <a:extLst>
              <a:ext uri="{FF2B5EF4-FFF2-40B4-BE49-F238E27FC236}">
                <a16:creationId xmlns:a16="http://schemas.microsoft.com/office/drawing/2014/main" id="{7457847E-A615-EB67-223E-8CBDD922C281}"/>
              </a:ext>
            </a:extLst>
          </p:cNvPr>
          <p:cNvPicPr>
            <a:picLocks noChangeAspect="1"/>
          </p:cNvPicPr>
          <p:nvPr/>
        </p:nvPicPr>
        <p:blipFill rotWithShape="1">
          <a:blip r:embed="rId6">
            <a:alphaModFix amt="35000"/>
          </a:blip>
          <a:srcRect t="15654" b="9346"/>
          <a:stretch/>
        </p:blipFill>
        <p:spPr>
          <a:xfrm>
            <a:off x="20" y="-1"/>
            <a:ext cx="12191980" cy="6858000"/>
          </a:xfrm>
          <a:prstGeom prst="rect">
            <a:avLst/>
          </a:prstGeom>
        </p:spPr>
      </p:pic>
      <p:sp>
        <p:nvSpPr>
          <p:cNvPr id="2" name="Title 1">
            <a:extLst>
              <a:ext uri="{FF2B5EF4-FFF2-40B4-BE49-F238E27FC236}">
                <a16:creationId xmlns:a16="http://schemas.microsoft.com/office/drawing/2014/main" id="{D60C6FF3-4BE2-42DA-B59C-0A651C65FFE6}"/>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a:t>Conclusion</a:t>
            </a:r>
          </a:p>
        </p:txBody>
      </p:sp>
      <p:sp>
        <p:nvSpPr>
          <p:cNvPr id="3" name="Text Placeholder 2">
            <a:extLst>
              <a:ext uri="{FF2B5EF4-FFF2-40B4-BE49-F238E27FC236}">
                <a16:creationId xmlns:a16="http://schemas.microsoft.com/office/drawing/2014/main" id="{9CA9F2A1-E53B-41B7-BCEB-2AE40926994A}"/>
              </a:ext>
            </a:extLst>
          </p:cNvPr>
          <p:cNvSpPr>
            <a:spLocks noGrp="1"/>
          </p:cNvSpPr>
          <p:nvPr>
            <p:ph type="body" idx="1"/>
          </p:nvPr>
        </p:nvSpPr>
        <p:spPr>
          <a:xfrm>
            <a:off x="1103312" y="2052918"/>
            <a:ext cx="8946541" cy="4195481"/>
          </a:xfrm>
        </p:spPr>
        <p:txBody>
          <a:bodyPr vert="horz" lIns="91440" tIns="45720" rIns="91440" bIns="45720" rtlCol="0">
            <a:normAutofit/>
          </a:bodyPr>
          <a:lstStyle/>
          <a:p>
            <a:r>
              <a:rPr lang="en-US"/>
              <a:t>The project aims to revolutionize thyroid nodule detection through deep learning, with the potential to significantly impact healthcare outcomes and accessibility. </a:t>
            </a:r>
          </a:p>
          <a:p>
            <a:r>
              <a:rPr lang="en-US"/>
              <a:t>The effective deployment of RNNs highlights their capacity to enhance patient care by precisely detecting and categorising thyroid nodules using data-derived insights. </a:t>
            </a:r>
          </a:p>
          <a:p>
            <a:r>
              <a:rPr lang="en-US"/>
              <a:t>Advancing further, ongoing research and development in this domain show potential for raising diagnostic precision and consequently enhancing healthcare results for patients.</a:t>
            </a:r>
            <a:endParaRPr lang="en-US" dirty="0"/>
          </a:p>
        </p:txBody>
      </p:sp>
    </p:spTree>
    <p:extLst>
      <p:ext uri="{BB962C8B-B14F-4D97-AF65-F5344CB8AC3E}">
        <p14:creationId xmlns:p14="http://schemas.microsoft.com/office/powerpoint/2010/main" val="120760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A3B07-1A3F-45B2-A64D-9C7D77ECD00D}"/>
              </a:ext>
            </a:extLst>
          </p:cNvPr>
          <p:cNvSpPr>
            <a:spLocks noGrp="1"/>
          </p:cNvSpPr>
          <p:nvPr>
            <p:ph type="title"/>
          </p:nvPr>
        </p:nvSpPr>
        <p:spPr/>
        <p:txBody>
          <a:bodyPr/>
          <a:lstStyle/>
          <a:p>
            <a:r>
              <a:rPr lang="en-IN" dirty="0"/>
              <a:t>References:</a:t>
            </a:r>
            <a:endParaRPr lang="en-GB" dirty="0"/>
          </a:p>
        </p:txBody>
      </p:sp>
      <p:sp>
        <p:nvSpPr>
          <p:cNvPr id="3" name="Text Placeholder 2">
            <a:extLst>
              <a:ext uri="{FF2B5EF4-FFF2-40B4-BE49-F238E27FC236}">
                <a16:creationId xmlns:a16="http://schemas.microsoft.com/office/drawing/2014/main" id="{238FBF08-D795-499C-88A9-7B12D32FCEBD}"/>
              </a:ext>
            </a:extLst>
          </p:cNvPr>
          <p:cNvSpPr>
            <a:spLocks noGrp="1"/>
          </p:cNvSpPr>
          <p:nvPr>
            <p:ph type="body" idx="1"/>
          </p:nvPr>
        </p:nvSpPr>
        <p:spPr>
          <a:xfrm>
            <a:off x="1103312" y="1660124"/>
            <a:ext cx="8946541" cy="4588275"/>
          </a:xfrm>
        </p:spPr>
        <p:txBody>
          <a:bodyPr>
            <a:normAutofit fontScale="85000" lnSpcReduction="20000"/>
          </a:bodyPr>
          <a:lstStyle/>
          <a:p>
            <a:r>
              <a:rPr lang="en-GB" dirty="0"/>
              <a:t>Thyroid nodule.(2023). Retrieved from: </a:t>
            </a:r>
            <a:r>
              <a:rPr lang="en-GB" dirty="0">
                <a:hlinkClick r:id="rId2"/>
              </a:rPr>
              <a:t>https://en.wikipedia.org/wiki/Thyroid_nodule#:~:text=Thyroid%20nodules%20are%20nodules%20(raised,common%2C%20and%20often%20go%20unnoticed</a:t>
            </a:r>
            <a:r>
              <a:rPr lang="en-GB" dirty="0"/>
              <a:t>.</a:t>
            </a:r>
          </a:p>
          <a:p>
            <a:r>
              <a:rPr lang="en-GB" dirty="0"/>
              <a:t>Han, D., Ibrahim, N., </a:t>
            </a:r>
            <a:r>
              <a:rPr lang="en-GB" dirty="0" err="1"/>
              <a:t>lu</a:t>
            </a:r>
            <a:r>
              <a:rPr lang="en-GB" dirty="0"/>
              <a:t>, F., Zhu, Y., Du, H., &amp; </a:t>
            </a:r>
            <a:r>
              <a:rPr lang="en-GB" dirty="0" err="1"/>
              <a:t>Alzoubi</a:t>
            </a:r>
            <a:r>
              <a:rPr lang="en-GB" dirty="0"/>
              <a:t>, A. (2023, October 21). Automatic detection of thyroid nodule characteristics from ... Automatic Detection of Thyroid Nodule Characteristics From 2D Ultrasound Images. </a:t>
            </a:r>
          </a:p>
          <a:p>
            <a:pPr marL="0" indent="0">
              <a:buNone/>
            </a:pPr>
            <a:r>
              <a:rPr lang="en-GB" dirty="0">
                <a:hlinkClick r:id="rId3"/>
              </a:rPr>
              <a:t>https://journals.sagepub.com/doi/10.1177/01617346231200804</a:t>
            </a:r>
            <a:endParaRPr lang="en-GB" dirty="0"/>
          </a:p>
          <a:p>
            <a:r>
              <a:rPr lang="en-GB" dirty="0"/>
              <a:t>Wang, L., Yang, S., Yang, S., Zhao, C., Tian, G., Gao, Y., Chen, Y., &amp; Lu, Y. (2019, January 8). Automatic thyroid nodule recognition and diagnosis in ultrasound imaging with the Yolov2 Neural Network - World Journal of Surgical Oncology. BioMed Central. </a:t>
            </a:r>
          </a:p>
          <a:p>
            <a:pPr marL="0" indent="0">
              <a:buNone/>
            </a:pPr>
            <a:r>
              <a:rPr lang="en-GB" dirty="0">
                <a:hlinkClick r:id="rId4"/>
              </a:rPr>
              <a:t>https://wjso.biomedcentral.com/articles/10.1186/s12957-019-1558-z</a:t>
            </a:r>
            <a:endParaRPr lang="en-GB" dirty="0"/>
          </a:p>
          <a:p>
            <a:r>
              <a:rPr lang="en-GB" dirty="0"/>
              <a:t>Li, T., Jiang, Z., Lu, M., Zou, S., Wu, M., Wei, T., Wang, L., Li, J., Hu, Z., Cheng, X., &amp; Liao, J. (2020). Computer-aided diagnosis system of thyroid nodules ultrasonography: Diagnostic performance difference between computer-aided diagnosis and 111 radiologists. Medicine, 99(23), e20634. </a:t>
            </a:r>
          </a:p>
          <a:p>
            <a:pPr marL="0" indent="0">
              <a:buNone/>
            </a:pPr>
            <a:r>
              <a:rPr lang="en-GB" dirty="0">
                <a:hlinkClick r:id="rId5"/>
              </a:rPr>
              <a:t>https://doi.org/10.1097/MD.0000000000020634</a:t>
            </a:r>
            <a:endParaRPr lang="en-GB" dirty="0"/>
          </a:p>
          <a:p>
            <a:pPr marL="0" indent="0">
              <a:buNone/>
            </a:pPr>
            <a:endParaRPr lang="en-GB" dirty="0"/>
          </a:p>
        </p:txBody>
      </p:sp>
    </p:spTree>
    <p:extLst>
      <p:ext uri="{BB962C8B-B14F-4D97-AF65-F5344CB8AC3E}">
        <p14:creationId xmlns:p14="http://schemas.microsoft.com/office/powerpoint/2010/main" val="441451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C62748-E2FB-4C43-91C1-B04705ED6661}"/>
              </a:ext>
            </a:extLst>
          </p:cNvPr>
          <p:cNvSpPr txBox="1"/>
          <p:nvPr/>
        </p:nvSpPr>
        <p:spPr>
          <a:xfrm>
            <a:off x="3047260" y="2877578"/>
            <a:ext cx="6094520" cy="1089529"/>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7200"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a:ea typeface="+mj-ea"/>
                <a:cs typeface="+mj-cs"/>
              </a:rPr>
              <a:t>Thank you</a:t>
            </a:r>
          </a:p>
        </p:txBody>
      </p:sp>
    </p:spTree>
    <p:extLst>
      <p:ext uri="{BB962C8B-B14F-4D97-AF65-F5344CB8AC3E}">
        <p14:creationId xmlns:p14="http://schemas.microsoft.com/office/powerpoint/2010/main" val="39209102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c72b7e2-a388-4d72-8740-6e787f47b1c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FEE10F72BAC884BB25E0AB922A7B170" ma:contentTypeVersion="14" ma:contentTypeDescription="Create a new document." ma:contentTypeScope="" ma:versionID="29989dbb13d1400a1f294fa81adce675">
  <xsd:schema xmlns:xsd="http://www.w3.org/2001/XMLSchema" xmlns:xs="http://www.w3.org/2001/XMLSchema" xmlns:p="http://schemas.microsoft.com/office/2006/metadata/properties" xmlns:ns3="9c72b7e2-a388-4d72-8740-6e787f47b1cd" xmlns:ns4="d329c255-6f98-4898-9d5e-42359340a400" targetNamespace="http://schemas.microsoft.com/office/2006/metadata/properties" ma:root="true" ma:fieldsID="be6b69b2a0165ae6734757b3fd81e8d5" ns3:_="" ns4:_="">
    <xsd:import namespace="9c72b7e2-a388-4d72-8740-6e787f47b1cd"/>
    <xsd:import namespace="d329c255-6f98-4898-9d5e-42359340a40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GenerationTime" minOccurs="0"/>
                <xsd:element ref="ns3:MediaServiceEventHashCode" minOccurs="0"/>
                <xsd:element ref="ns3:MediaServiceDateTaken" minOccurs="0"/>
                <xsd:element ref="ns3:MediaServiceSystemTags" minOccurs="0"/>
                <xsd:element ref="ns3:MediaLengthInSeconds" minOccurs="0"/>
                <xsd:element ref="ns3:MediaServiceOCR"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72b7e2-a388-4d72-8740-6e787f47b1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329c255-6f98-4898-9d5e-42359340a400"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2DF9FB-DDAA-4647-BD0F-0E8718699730}">
  <ds:schemaRefs>
    <ds:schemaRef ds:uri="http://www.w3.org/XML/1998/namespace"/>
    <ds:schemaRef ds:uri="http://purl.org/dc/dcmitype/"/>
    <ds:schemaRef ds:uri="http://schemas.microsoft.com/office/infopath/2007/PartnerControls"/>
    <ds:schemaRef ds:uri="d329c255-6f98-4898-9d5e-42359340a400"/>
    <ds:schemaRef ds:uri="http://purl.org/dc/terms/"/>
    <ds:schemaRef ds:uri="http://purl.org/dc/elements/1.1/"/>
    <ds:schemaRef ds:uri="http://schemas.microsoft.com/office/2006/documentManagement/types"/>
    <ds:schemaRef ds:uri="http://schemas.microsoft.com/office/2006/metadata/properties"/>
    <ds:schemaRef ds:uri="9c72b7e2-a388-4d72-8740-6e787f47b1cd"/>
    <ds:schemaRef ds:uri="http://schemas.openxmlformats.org/package/2006/metadata/core-properties"/>
  </ds:schemaRefs>
</ds:datastoreItem>
</file>

<file path=customXml/itemProps2.xml><?xml version="1.0" encoding="utf-8"?>
<ds:datastoreItem xmlns:ds="http://schemas.openxmlformats.org/officeDocument/2006/customXml" ds:itemID="{18B4BE23-684D-45BC-9968-AF3632123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72b7e2-a388-4d72-8740-6e787f47b1cd"/>
    <ds:schemaRef ds:uri="d329c255-6f98-4898-9d5e-42359340a4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91EF50-2924-4A6A-AA14-0F8F147EC7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0</TotalTime>
  <Words>1473</Words>
  <Application>Microsoft Office PowerPoint</Application>
  <PresentationFormat>Widescreen</PresentationFormat>
  <Paragraphs>89</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Bookman Old Style</vt:lpstr>
      <vt:lpstr>Calibri</vt:lpstr>
      <vt:lpstr>Century Gothic</vt:lpstr>
      <vt:lpstr>Wingdings 3</vt:lpstr>
      <vt:lpstr>Ion</vt:lpstr>
      <vt:lpstr>Detection of Thyroid Nodules using Deep Learning </vt:lpstr>
      <vt:lpstr>Overview</vt:lpstr>
      <vt:lpstr>What are Thyroid Nodules?</vt:lpstr>
      <vt:lpstr>Introduction</vt:lpstr>
      <vt:lpstr>Aim and objective</vt:lpstr>
      <vt:lpstr>Problem Statements:</vt:lpstr>
      <vt:lpstr>Subject Area</vt:lpstr>
      <vt:lpstr>Project Goals</vt:lpstr>
      <vt:lpstr>Related Studies: </vt:lpstr>
      <vt:lpstr>Research Gaps</vt:lpstr>
      <vt:lpstr>Why Deep Learning?</vt:lpstr>
      <vt:lpstr>Dataset</vt:lpstr>
      <vt:lpstr>Methodology</vt:lpstr>
      <vt:lpstr>Model 1: Long Short-Term Memory</vt:lpstr>
      <vt:lpstr>Model 2: Stacked Long Term Short Memory</vt:lpstr>
      <vt:lpstr>Model 3: GRU</vt:lpstr>
      <vt:lpstr>Results &amp; Analysis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Thyroid Nodules using Deep Learning</dc:title>
  <dc:creator>Vishal Gudla</dc:creator>
  <cp:lastModifiedBy>Emmanuel Dawson Dasi</cp:lastModifiedBy>
  <cp:revision>19</cp:revision>
  <dcterms:created xsi:type="dcterms:W3CDTF">2024-03-26T14:20:47Z</dcterms:created>
  <dcterms:modified xsi:type="dcterms:W3CDTF">2025-11-26T17:57:23Z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0x010100EFEE10F72BAC884BB25E0AB922A7B170</vt:lpwstr>
  </property>
</Properties>
</file>